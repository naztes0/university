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 (MS)" panose="020B0604020202020204" charset="0"/>
      <p:regular r:id="rId10"/>
    </p:embeddedFont>
    <p:embeddedFont>
      <p:font typeface="Calibri (MS) Bold" panose="020B0604020202020204" charset="0"/>
      <p:regular r:id="rId11"/>
    </p:embeddedFont>
    <p:embeddedFont>
      <p:font typeface="Open Sans 1" panose="020B0604020202020204" charset="0"/>
      <p:regular r:id="rId12"/>
    </p:embeddedFont>
    <p:embeddedFont>
      <p:font typeface="Open Sans 1 Bold" panose="020B0604020202020204" charset="0"/>
      <p:regular r:id="rId13"/>
    </p:embeddedFont>
    <p:embeddedFont>
      <p:font typeface="Open Sans 2" panose="020B0604020202020204" charset="0"/>
      <p:regular r:id="rId14"/>
    </p:embeddedFont>
    <p:embeddedFont>
      <p:font typeface="Open Sans 2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01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5723" y="3168316"/>
            <a:ext cx="13851663" cy="3516723"/>
            <a:chOff x="0" y="0"/>
            <a:chExt cx="3648175" cy="926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48175" cy="926215"/>
            </a:xfrm>
            <a:custGeom>
              <a:avLst/>
              <a:gdLst/>
              <a:ahLst/>
              <a:cxnLst/>
              <a:rect l="l" t="t" r="r" b="b"/>
              <a:pathLst>
                <a:path w="3648175" h="926215">
                  <a:moveTo>
                    <a:pt x="28505" y="0"/>
                  </a:moveTo>
                  <a:lnTo>
                    <a:pt x="3619670" y="0"/>
                  </a:lnTo>
                  <a:cubicBezTo>
                    <a:pt x="3627230" y="0"/>
                    <a:pt x="3634480" y="3003"/>
                    <a:pt x="3639826" y="8349"/>
                  </a:cubicBezTo>
                  <a:cubicBezTo>
                    <a:pt x="3645171" y="13695"/>
                    <a:pt x="3648175" y="20945"/>
                    <a:pt x="3648175" y="28505"/>
                  </a:cubicBezTo>
                  <a:lnTo>
                    <a:pt x="3648175" y="897710"/>
                  </a:lnTo>
                  <a:cubicBezTo>
                    <a:pt x="3648175" y="913453"/>
                    <a:pt x="3635413" y="926215"/>
                    <a:pt x="3619670" y="926215"/>
                  </a:cubicBezTo>
                  <a:lnTo>
                    <a:pt x="28505" y="926215"/>
                  </a:lnTo>
                  <a:cubicBezTo>
                    <a:pt x="12762" y="926215"/>
                    <a:pt x="0" y="913453"/>
                    <a:pt x="0" y="897710"/>
                  </a:cubicBezTo>
                  <a:lnTo>
                    <a:pt x="0" y="28505"/>
                  </a:lnTo>
                  <a:cubicBezTo>
                    <a:pt x="0" y="12762"/>
                    <a:pt x="12762" y="0"/>
                    <a:pt x="28505" y="0"/>
                  </a:cubicBezTo>
                  <a:close/>
                </a:path>
              </a:pathLst>
            </a:custGeom>
            <a:solidFill>
              <a:srgbClr val="D8EDF5">
                <a:alpha val="51765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48175" cy="964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881920" y="981075"/>
            <a:ext cx="8524161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КИЇВСЬКИЙ НАЦІОНАЛЬНИЙ УНІВЕРСИТЕТ ІМЕНІ ТАРАСА ШЕВЧЕНКА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Факультет комп’ютерних наук та кібернетики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Кафедра інтелектуальних програмних систем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419600" y="3661757"/>
            <a:ext cx="10023907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Курсова робота 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за спеціальністю 121 Інженерія програмного забезпечення 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на тему: 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РОЗРОБКА ТА ТЕСТУВАННЯ ВИСОКОНАВАНТАЖЕНОГО REST API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СИСТЕМИ БРОНЮВАННЯ ЗАЛІЗНИЧНИХ КВИТКІВ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72800" y="7124700"/>
            <a:ext cx="6612136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Виконав студент 3-го курсу ОПП “Програмна інженерія” </a:t>
            </a:r>
          </a:p>
          <a:p>
            <a:pPr algn="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Тесленко Назар Олександрович</a:t>
            </a:r>
          </a:p>
          <a:p>
            <a:pPr algn="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76799" y="8238490"/>
            <a:ext cx="8908137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Науковий керівник: асистент кафедри інтелектуальних програмних систем,</a:t>
            </a:r>
          </a:p>
          <a:p>
            <a:pPr algn="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доктор філософії </a:t>
            </a:r>
          </a:p>
          <a:p>
            <a:pPr algn="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Ількун Олександр Петрович</a:t>
            </a:r>
          </a:p>
          <a:p>
            <a:pPr algn="r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028700" y="2116981"/>
            <a:ext cx="19050" cy="3026519"/>
          </a:xfrm>
          <a:prstGeom prst="line">
            <a:avLst/>
          </a:prstGeom>
          <a:ln w="38100" cap="flat">
            <a:solidFill>
              <a:srgbClr val="8BAEB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47750" y="5686884"/>
            <a:ext cx="7206208" cy="3571416"/>
            <a:chOff x="0" y="0"/>
            <a:chExt cx="1897931" cy="9406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7931" cy="940620"/>
            </a:xfrm>
            <a:custGeom>
              <a:avLst/>
              <a:gdLst/>
              <a:ahLst/>
              <a:cxnLst/>
              <a:rect l="l" t="t" r="r" b="b"/>
              <a:pathLst>
                <a:path w="1897931" h="940620">
                  <a:moveTo>
                    <a:pt x="54791" y="0"/>
                  </a:moveTo>
                  <a:lnTo>
                    <a:pt x="1843140" y="0"/>
                  </a:lnTo>
                  <a:cubicBezTo>
                    <a:pt x="1873400" y="0"/>
                    <a:pt x="1897931" y="24531"/>
                    <a:pt x="1897931" y="54791"/>
                  </a:cubicBezTo>
                  <a:lnTo>
                    <a:pt x="1897931" y="885828"/>
                  </a:lnTo>
                  <a:cubicBezTo>
                    <a:pt x="1897931" y="900360"/>
                    <a:pt x="1892159" y="914296"/>
                    <a:pt x="1881883" y="924572"/>
                  </a:cubicBezTo>
                  <a:cubicBezTo>
                    <a:pt x="1871608" y="934847"/>
                    <a:pt x="1857671" y="940620"/>
                    <a:pt x="1843140" y="940620"/>
                  </a:cubicBezTo>
                  <a:lnTo>
                    <a:pt x="54791" y="940620"/>
                  </a:lnTo>
                  <a:cubicBezTo>
                    <a:pt x="24531" y="940620"/>
                    <a:pt x="0" y="916089"/>
                    <a:pt x="0" y="885828"/>
                  </a:cubicBezTo>
                  <a:lnTo>
                    <a:pt x="0" y="54791"/>
                  </a:lnTo>
                  <a:cubicBezTo>
                    <a:pt x="0" y="24531"/>
                    <a:pt x="24531" y="0"/>
                    <a:pt x="54791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7931" cy="978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72620" y="650875"/>
            <a:ext cx="1346108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Актуальність, мета роботи, предмет дослідження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6309" y="2167686"/>
            <a:ext cx="2744153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Актуальність</a:t>
            </a:r>
            <a:r>
              <a:rPr lang="en-US" sz="30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</a:p>
          <a:p>
            <a:pPr algn="l">
              <a:lnSpc>
                <a:spcPts val="4200"/>
              </a:lnSpc>
            </a:pPr>
            <a:r>
              <a:rPr lang="en-US" sz="30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роботи</a:t>
            </a:r>
            <a:endParaRPr lang="en-US" sz="30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76309" y="3323652"/>
            <a:ext cx="15393260" cy="181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3"/>
              </a:lnSpc>
            </a:pPr>
            <a:r>
              <a:rPr lang="en-US" sz="2602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Стрімкий розвиток цифрових сервісів та зростання кількості їх користувачів паралельно підвищують вимоги до надійності та продуктивності серверних застосунків. Системи обслуговування великої кількості одночасних запитів мають справу з проблемами конкурентного доступу до спільних ресурсів.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1092" y="6729556"/>
            <a:ext cx="6932866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Метою роботи є розробка та дослідження продуктивності високонавантаженого REST API на основі порівняльного аналізу патернів керування конкурентним доступом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6309" y="5989903"/>
            <a:ext cx="1598473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Мета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053092" y="5734050"/>
            <a:ext cx="7206208" cy="3571416"/>
            <a:chOff x="0" y="0"/>
            <a:chExt cx="1897931" cy="9406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97931" cy="940620"/>
            </a:xfrm>
            <a:custGeom>
              <a:avLst/>
              <a:gdLst/>
              <a:ahLst/>
              <a:cxnLst/>
              <a:rect l="l" t="t" r="r" b="b"/>
              <a:pathLst>
                <a:path w="1897931" h="940620">
                  <a:moveTo>
                    <a:pt x="54791" y="0"/>
                  </a:moveTo>
                  <a:lnTo>
                    <a:pt x="1843140" y="0"/>
                  </a:lnTo>
                  <a:cubicBezTo>
                    <a:pt x="1873400" y="0"/>
                    <a:pt x="1897931" y="24531"/>
                    <a:pt x="1897931" y="54791"/>
                  </a:cubicBezTo>
                  <a:lnTo>
                    <a:pt x="1897931" y="885828"/>
                  </a:lnTo>
                  <a:cubicBezTo>
                    <a:pt x="1897931" y="900360"/>
                    <a:pt x="1892159" y="914296"/>
                    <a:pt x="1881883" y="924572"/>
                  </a:cubicBezTo>
                  <a:cubicBezTo>
                    <a:pt x="1871608" y="934847"/>
                    <a:pt x="1857671" y="940620"/>
                    <a:pt x="1843140" y="940620"/>
                  </a:cubicBezTo>
                  <a:lnTo>
                    <a:pt x="54791" y="940620"/>
                  </a:lnTo>
                  <a:cubicBezTo>
                    <a:pt x="24531" y="940620"/>
                    <a:pt x="0" y="916089"/>
                    <a:pt x="0" y="885828"/>
                  </a:cubicBezTo>
                  <a:lnTo>
                    <a:pt x="0" y="54791"/>
                  </a:lnTo>
                  <a:cubicBezTo>
                    <a:pt x="0" y="24531"/>
                    <a:pt x="24531" y="0"/>
                    <a:pt x="54791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97931" cy="978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053092" y="6748606"/>
            <a:ext cx="7206208" cy="249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Предметом роботи виступає серверна частина системи бронювання залізничних квитків, реалізована за вимогами REST API</a:t>
            </a: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Процес забезпечення цілісності даних при конкурентному доступі</a:t>
            </a:r>
          </a:p>
          <a:p>
            <a:pPr algn="just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79489" y="5989903"/>
            <a:ext cx="446929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Предмет дослідження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057893" cy="1298686"/>
            <a:chOff x="0" y="0"/>
            <a:chExt cx="4229239" cy="3420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29239" cy="342041"/>
            </a:xfrm>
            <a:custGeom>
              <a:avLst/>
              <a:gdLst/>
              <a:ahLst/>
              <a:cxnLst/>
              <a:rect l="l" t="t" r="r" b="b"/>
              <a:pathLst>
                <a:path w="4229239" h="342041">
                  <a:moveTo>
                    <a:pt x="24588" y="0"/>
                  </a:moveTo>
                  <a:lnTo>
                    <a:pt x="4204651" y="0"/>
                  </a:lnTo>
                  <a:cubicBezTo>
                    <a:pt x="4211172" y="0"/>
                    <a:pt x="4217426" y="2591"/>
                    <a:pt x="4222037" y="7202"/>
                  </a:cubicBezTo>
                  <a:cubicBezTo>
                    <a:pt x="4226649" y="11813"/>
                    <a:pt x="4229239" y="18067"/>
                    <a:pt x="4229239" y="24588"/>
                  </a:cubicBezTo>
                  <a:lnTo>
                    <a:pt x="4229239" y="317452"/>
                  </a:lnTo>
                  <a:cubicBezTo>
                    <a:pt x="4229239" y="323973"/>
                    <a:pt x="4226649" y="330228"/>
                    <a:pt x="4222037" y="334839"/>
                  </a:cubicBezTo>
                  <a:cubicBezTo>
                    <a:pt x="4217426" y="339450"/>
                    <a:pt x="4211172" y="342041"/>
                    <a:pt x="4204651" y="342041"/>
                  </a:cubicBezTo>
                  <a:lnTo>
                    <a:pt x="24588" y="342041"/>
                  </a:lnTo>
                  <a:cubicBezTo>
                    <a:pt x="18067" y="342041"/>
                    <a:pt x="11813" y="339450"/>
                    <a:pt x="7202" y="334839"/>
                  </a:cubicBezTo>
                  <a:cubicBezTo>
                    <a:pt x="2591" y="330228"/>
                    <a:pt x="0" y="323973"/>
                    <a:pt x="0" y="317452"/>
                  </a:cubicBezTo>
                  <a:lnTo>
                    <a:pt x="0" y="24588"/>
                  </a:lnTo>
                  <a:cubicBezTo>
                    <a:pt x="0" y="18067"/>
                    <a:pt x="2591" y="11813"/>
                    <a:pt x="7202" y="7202"/>
                  </a:cubicBezTo>
                  <a:cubicBezTo>
                    <a:pt x="11813" y="2591"/>
                    <a:pt x="18067" y="0"/>
                    <a:pt x="24588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29239" cy="380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5" name="Object 5"/>
          <p:cNvGraphicFramePr/>
          <p:nvPr/>
        </p:nvGraphicFramePr>
        <p:xfrm>
          <a:off x="1512653" y="3225582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105900" imgH="5791200" progId="Excel.Sheet.12">
                  <p:embed/>
                </p:oleObj>
              </mc:Choice>
              <mc:Fallback>
                <p:oleObj name="Worksheet" r:id="rId2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12653" y="3225582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459323" y="1300218"/>
            <a:ext cx="890477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Завдання дослідження</a:t>
            </a:r>
          </a:p>
        </p:txBody>
      </p:sp>
      <p:graphicFrame>
        <p:nvGraphicFramePr>
          <p:cNvPr id="7" name="Object 7"/>
          <p:cNvGraphicFramePr/>
          <p:nvPr/>
        </p:nvGraphicFramePr>
        <p:xfrm>
          <a:off x="10229656" y="3225582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105900" imgH="5791200" progId="Excel.Sheet.12">
                  <p:embed/>
                </p:oleObj>
              </mc:Choice>
              <mc:Fallback>
                <p:oleObj name="Worksheet" r:id="rId4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29656" y="3225582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/>
          <p:nvPr/>
        </p:nvGraphicFramePr>
        <p:xfrm>
          <a:off x="1512653" y="5422458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9105900" imgH="5791200" progId="Excel.Sheet.12">
                  <p:embed/>
                </p:oleObj>
              </mc:Choice>
              <mc:Fallback>
                <p:oleObj name="Worksheet" r:id="rId6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12653" y="5422458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/>
          <p:nvPr/>
        </p:nvGraphicFramePr>
        <p:xfrm>
          <a:off x="10229656" y="5422458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9105900" imgH="5791200" progId="Excel.Sheet.12">
                  <p:embed/>
                </p:oleObj>
              </mc:Choice>
              <mc:Fallback>
                <p:oleObj name="Worksheet" r:id="rId8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229656" y="5422458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/>
          <p:nvPr/>
        </p:nvGraphicFramePr>
        <p:xfrm>
          <a:off x="1512653" y="7623399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9105900" imgH="5791200" progId="Excel.Sheet.12">
                  <p:embed/>
                </p:oleObj>
              </mc:Choice>
              <mc:Fallback>
                <p:oleObj name="Worksheet" r:id="rId10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12653" y="7623399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/>
          <p:nvPr/>
        </p:nvGraphicFramePr>
        <p:xfrm>
          <a:off x="10229656" y="7623399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9105900" imgH="5791200" progId="Excel.Sheet.12">
                  <p:embed/>
                </p:oleObj>
              </mc:Choice>
              <mc:Fallback>
                <p:oleObj name="Worksheet" r:id="rId12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229656" y="7623399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057893" cy="1298686"/>
            <a:chOff x="0" y="0"/>
            <a:chExt cx="4229239" cy="3420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29239" cy="342041"/>
            </a:xfrm>
            <a:custGeom>
              <a:avLst/>
              <a:gdLst/>
              <a:ahLst/>
              <a:cxnLst/>
              <a:rect l="l" t="t" r="r" b="b"/>
              <a:pathLst>
                <a:path w="4229239" h="342041">
                  <a:moveTo>
                    <a:pt x="24588" y="0"/>
                  </a:moveTo>
                  <a:lnTo>
                    <a:pt x="4204651" y="0"/>
                  </a:lnTo>
                  <a:cubicBezTo>
                    <a:pt x="4211172" y="0"/>
                    <a:pt x="4217426" y="2591"/>
                    <a:pt x="4222037" y="7202"/>
                  </a:cubicBezTo>
                  <a:cubicBezTo>
                    <a:pt x="4226649" y="11813"/>
                    <a:pt x="4229239" y="18067"/>
                    <a:pt x="4229239" y="24588"/>
                  </a:cubicBezTo>
                  <a:lnTo>
                    <a:pt x="4229239" y="317452"/>
                  </a:lnTo>
                  <a:cubicBezTo>
                    <a:pt x="4229239" y="323973"/>
                    <a:pt x="4226649" y="330228"/>
                    <a:pt x="4222037" y="334839"/>
                  </a:cubicBezTo>
                  <a:cubicBezTo>
                    <a:pt x="4217426" y="339450"/>
                    <a:pt x="4211172" y="342041"/>
                    <a:pt x="4204651" y="342041"/>
                  </a:cubicBezTo>
                  <a:lnTo>
                    <a:pt x="24588" y="342041"/>
                  </a:lnTo>
                  <a:cubicBezTo>
                    <a:pt x="18067" y="342041"/>
                    <a:pt x="11813" y="339450"/>
                    <a:pt x="7202" y="334839"/>
                  </a:cubicBezTo>
                  <a:cubicBezTo>
                    <a:pt x="2591" y="330228"/>
                    <a:pt x="0" y="323973"/>
                    <a:pt x="0" y="317452"/>
                  </a:cubicBezTo>
                  <a:lnTo>
                    <a:pt x="0" y="24588"/>
                  </a:lnTo>
                  <a:cubicBezTo>
                    <a:pt x="0" y="18067"/>
                    <a:pt x="2591" y="11813"/>
                    <a:pt x="7202" y="7202"/>
                  </a:cubicBezTo>
                  <a:cubicBezTo>
                    <a:pt x="11813" y="2591"/>
                    <a:pt x="18067" y="0"/>
                    <a:pt x="24588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29239" cy="380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59323" y="1300218"/>
            <a:ext cx="890477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Стек технологій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01064" y="3288732"/>
            <a:ext cx="4740534" cy="2082495"/>
            <a:chOff x="0" y="0"/>
            <a:chExt cx="6320712" cy="2776660"/>
          </a:xfrm>
        </p:grpSpPr>
        <p:sp>
          <p:nvSpPr>
            <p:cNvPr id="7" name="AutoShape 7"/>
            <p:cNvSpPr/>
            <p:nvPr/>
          </p:nvSpPr>
          <p:spPr>
            <a:xfrm flipH="1">
              <a:off x="28517" y="306"/>
              <a:ext cx="29769" cy="2776048"/>
            </a:xfrm>
            <a:prstGeom prst="line">
              <a:avLst/>
            </a:prstGeom>
            <a:ln w="57037" cap="flat">
              <a:solidFill>
                <a:srgbClr val="8BAEB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17242" y="-75894"/>
              <a:ext cx="3133323" cy="760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15"/>
                </a:lnSpc>
              </a:pPr>
              <a:r>
                <a:rPr lang="en-US" sz="3368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TypeScript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7242" y="902404"/>
              <a:ext cx="5903470" cy="622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9"/>
                </a:lnSpc>
              </a:pPr>
              <a:r>
                <a:rPr lang="en-US" sz="2806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Основна мова розробки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7242" y="1743718"/>
              <a:ext cx="5114664" cy="920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9"/>
                </a:lnSpc>
              </a:pPr>
              <a:r>
                <a:rPr lang="en-US" sz="202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Статична типізація, безпека коду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86463" y="3288742"/>
            <a:ext cx="4542367" cy="2082476"/>
            <a:chOff x="0" y="0"/>
            <a:chExt cx="6056489" cy="2776634"/>
          </a:xfrm>
        </p:grpSpPr>
        <p:sp>
          <p:nvSpPr>
            <p:cNvPr id="12" name="AutoShape 12"/>
            <p:cNvSpPr/>
            <p:nvPr/>
          </p:nvSpPr>
          <p:spPr>
            <a:xfrm flipH="1">
              <a:off x="28517" y="293"/>
              <a:ext cx="28518" cy="2776048"/>
            </a:xfrm>
            <a:prstGeom prst="line">
              <a:avLst/>
            </a:prstGeom>
            <a:ln w="57037" cap="flat">
              <a:solidFill>
                <a:srgbClr val="8BAEB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00919" y="-75907"/>
              <a:ext cx="3001748" cy="749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15"/>
                </a:lnSpc>
              </a:pPr>
              <a:r>
                <a:rPr lang="en-US" sz="3368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Node.js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0919" y="902391"/>
              <a:ext cx="5655571" cy="6180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29"/>
                </a:lnSpc>
              </a:pPr>
              <a:r>
                <a:rPr lang="en-US" sz="2806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Середовище виконання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919" y="1743705"/>
              <a:ext cx="4899888" cy="920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9"/>
                </a:lnSpc>
              </a:pPr>
              <a:r>
                <a:rPr lang="en-US" sz="202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Асинхронна модель, V8 engine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44226" y="3288742"/>
            <a:ext cx="4542367" cy="2082476"/>
            <a:chOff x="0" y="0"/>
            <a:chExt cx="6056489" cy="2776634"/>
          </a:xfrm>
        </p:grpSpPr>
        <p:sp>
          <p:nvSpPr>
            <p:cNvPr id="17" name="AutoShape 17"/>
            <p:cNvSpPr/>
            <p:nvPr/>
          </p:nvSpPr>
          <p:spPr>
            <a:xfrm flipH="1">
              <a:off x="28517" y="293"/>
              <a:ext cx="28518" cy="2776048"/>
            </a:xfrm>
            <a:prstGeom prst="line">
              <a:avLst/>
            </a:prstGeom>
            <a:ln w="57037" cap="flat">
              <a:solidFill>
                <a:srgbClr val="8BAEB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00919" y="-75907"/>
              <a:ext cx="3001748" cy="749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15"/>
                </a:lnSpc>
              </a:pPr>
              <a:r>
                <a:rPr lang="en-US" sz="3368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Fastify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0919" y="902391"/>
              <a:ext cx="5655571" cy="622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9"/>
                </a:lnSpc>
              </a:pPr>
              <a:r>
                <a:rPr lang="en-US" sz="2806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Вебфреймворк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0919" y="1743705"/>
              <a:ext cx="4899888" cy="920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9"/>
                </a:lnSpc>
              </a:pPr>
              <a:r>
                <a:rPr lang="en-US" sz="202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~46 000 RPS, 4× швидше за Express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00126" y="6333243"/>
            <a:ext cx="4542367" cy="2082476"/>
            <a:chOff x="0" y="0"/>
            <a:chExt cx="6056489" cy="2776634"/>
          </a:xfrm>
        </p:grpSpPr>
        <p:sp>
          <p:nvSpPr>
            <p:cNvPr id="22" name="AutoShape 22"/>
            <p:cNvSpPr/>
            <p:nvPr/>
          </p:nvSpPr>
          <p:spPr>
            <a:xfrm flipH="1">
              <a:off x="28517" y="293"/>
              <a:ext cx="28518" cy="2776048"/>
            </a:xfrm>
            <a:prstGeom prst="line">
              <a:avLst/>
            </a:prstGeom>
            <a:ln w="57037" cap="flat">
              <a:solidFill>
                <a:srgbClr val="8BAEB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0919" y="-75907"/>
              <a:ext cx="4628544" cy="749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15"/>
                </a:lnSpc>
              </a:pPr>
              <a:r>
                <a:rPr lang="en-US" sz="3368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PostgreSQL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0919" y="902391"/>
              <a:ext cx="5655571" cy="622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9"/>
                </a:lnSpc>
              </a:pPr>
              <a:r>
                <a:rPr lang="en-US" sz="2806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База даних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0919" y="1743705"/>
              <a:ext cx="5186970" cy="920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9"/>
                </a:lnSpc>
              </a:pPr>
              <a:r>
                <a:rPr lang="en-US" sz="202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ACID, row-level locking, UNIQUE</a:t>
              </a:r>
            </a:p>
            <a:p>
              <a:pPr algn="l">
                <a:lnSpc>
                  <a:spcPts val="2829"/>
                </a:lnSpc>
              </a:pPr>
              <a:endParaRPr lang="en-US" sz="202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86463" y="6333243"/>
            <a:ext cx="4789003" cy="2350912"/>
            <a:chOff x="0" y="0"/>
            <a:chExt cx="6385338" cy="3134550"/>
          </a:xfrm>
        </p:grpSpPr>
        <p:sp>
          <p:nvSpPr>
            <p:cNvPr id="27" name="AutoShape 27"/>
            <p:cNvSpPr/>
            <p:nvPr/>
          </p:nvSpPr>
          <p:spPr>
            <a:xfrm flipH="1">
              <a:off x="28517" y="293"/>
              <a:ext cx="28518" cy="2776048"/>
            </a:xfrm>
            <a:prstGeom prst="line">
              <a:avLst/>
            </a:prstGeom>
            <a:ln w="57037" cap="flat">
              <a:solidFill>
                <a:srgbClr val="8BAEB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0919" y="-75907"/>
              <a:ext cx="3001748" cy="749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15"/>
                </a:lnSpc>
              </a:pPr>
              <a:r>
                <a:rPr lang="en-US" sz="3368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k6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0919" y="911916"/>
              <a:ext cx="5655571" cy="503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Навантажувальне тестування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0919" y="1743705"/>
              <a:ext cx="5984419" cy="1390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9"/>
                </a:lnSpc>
              </a:pPr>
              <a:r>
                <a:rPr lang="en-US" sz="202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Goroutines, Virtual Users, JSON export</a:t>
              </a:r>
            </a:p>
            <a:p>
              <a:pPr algn="l">
                <a:lnSpc>
                  <a:spcPts val="2829"/>
                </a:lnSpc>
              </a:pPr>
              <a:endParaRPr lang="en-US" sz="202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544226" y="6333243"/>
            <a:ext cx="4542367" cy="2082476"/>
            <a:chOff x="0" y="0"/>
            <a:chExt cx="6056489" cy="2776634"/>
          </a:xfrm>
        </p:grpSpPr>
        <p:sp>
          <p:nvSpPr>
            <p:cNvPr id="32" name="AutoShape 32"/>
            <p:cNvSpPr/>
            <p:nvPr/>
          </p:nvSpPr>
          <p:spPr>
            <a:xfrm flipH="1">
              <a:off x="28517" y="293"/>
              <a:ext cx="28518" cy="2776048"/>
            </a:xfrm>
            <a:prstGeom prst="line">
              <a:avLst/>
            </a:prstGeom>
            <a:ln w="57037" cap="flat">
              <a:solidFill>
                <a:srgbClr val="8BAEB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00919" y="-75907"/>
              <a:ext cx="3001748" cy="749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15"/>
                </a:lnSpc>
              </a:pPr>
              <a:r>
                <a:rPr lang="en-US" sz="3368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React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0919" y="902391"/>
              <a:ext cx="5655571" cy="622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29"/>
                </a:lnSpc>
              </a:pPr>
              <a:r>
                <a:rPr lang="en-US" sz="2806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Аналітичний дашборд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0919" y="1743705"/>
              <a:ext cx="4899888" cy="920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29"/>
                </a:lnSpc>
              </a:pPr>
              <a:r>
                <a:rPr lang="en-US" sz="2021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Візуалізація метрик тестування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057893" cy="1298686"/>
            <a:chOff x="0" y="0"/>
            <a:chExt cx="4229239" cy="3420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29239" cy="342041"/>
            </a:xfrm>
            <a:custGeom>
              <a:avLst/>
              <a:gdLst/>
              <a:ahLst/>
              <a:cxnLst/>
              <a:rect l="l" t="t" r="r" b="b"/>
              <a:pathLst>
                <a:path w="4229239" h="342041">
                  <a:moveTo>
                    <a:pt x="24588" y="0"/>
                  </a:moveTo>
                  <a:lnTo>
                    <a:pt x="4204651" y="0"/>
                  </a:lnTo>
                  <a:cubicBezTo>
                    <a:pt x="4211172" y="0"/>
                    <a:pt x="4217426" y="2591"/>
                    <a:pt x="4222037" y="7202"/>
                  </a:cubicBezTo>
                  <a:cubicBezTo>
                    <a:pt x="4226649" y="11813"/>
                    <a:pt x="4229239" y="18067"/>
                    <a:pt x="4229239" y="24588"/>
                  </a:cubicBezTo>
                  <a:lnTo>
                    <a:pt x="4229239" y="317452"/>
                  </a:lnTo>
                  <a:cubicBezTo>
                    <a:pt x="4229239" y="323973"/>
                    <a:pt x="4226649" y="330228"/>
                    <a:pt x="4222037" y="334839"/>
                  </a:cubicBezTo>
                  <a:cubicBezTo>
                    <a:pt x="4217426" y="339450"/>
                    <a:pt x="4211172" y="342041"/>
                    <a:pt x="4204651" y="342041"/>
                  </a:cubicBezTo>
                  <a:lnTo>
                    <a:pt x="24588" y="342041"/>
                  </a:lnTo>
                  <a:cubicBezTo>
                    <a:pt x="18067" y="342041"/>
                    <a:pt x="11813" y="339450"/>
                    <a:pt x="7202" y="334839"/>
                  </a:cubicBezTo>
                  <a:cubicBezTo>
                    <a:pt x="2591" y="330228"/>
                    <a:pt x="0" y="323973"/>
                    <a:pt x="0" y="317452"/>
                  </a:cubicBezTo>
                  <a:lnTo>
                    <a:pt x="0" y="24588"/>
                  </a:lnTo>
                  <a:cubicBezTo>
                    <a:pt x="0" y="18067"/>
                    <a:pt x="2591" y="11813"/>
                    <a:pt x="7202" y="7202"/>
                  </a:cubicBezTo>
                  <a:cubicBezTo>
                    <a:pt x="11813" y="2591"/>
                    <a:pt x="18067" y="0"/>
                    <a:pt x="24588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29239" cy="380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59323" y="1300218"/>
            <a:ext cx="122540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Методологія навантажувального тестування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44021" y="2760049"/>
            <a:ext cx="6775586" cy="1035527"/>
            <a:chOff x="0" y="0"/>
            <a:chExt cx="1784516" cy="2727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4516" cy="272731"/>
            </a:xfrm>
            <a:custGeom>
              <a:avLst/>
              <a:gdLst/>
              <a:ahLst/>
              <a:cxnLst/>
              <a:rect l="l" t="t" r="r" b="b"/>
              <a:pathLst>
                <a:path w="1784516" h="272731">
                  <a:moveTo>
                    <a:pt x="58274" y="0"/>
                  </a:moveTo>
                  <a:lnTo>
                    <a:pt x="1726243" y="0"/>
                  </a:lnTo>
                  <a:cubicBezTo>
                    <a:pt x="1758426" y="0"/>
                    <a:pt x="1784516" y="26090"/>
                    <a:pt x="1784516" y="58274"/>
                  </a:cubicBezTo>
                  <a:lnTo>
                    <a:pt x="1784516" y="214458"/>
                  </a:lnTo>
                  <a:cubicBezTo>
                    <a:pt x="1784516" y="246641"/>
                    <a:pt x="1758426" y="272731"/>
                    <a:pt x="1726243" y="272731"/>
                  </a:cubicBezTo>
                  <a:lnTo>
                    <a:pt x="58274" y="272731"/>
                  </a:lnTo>
                  <a:cubicBezTo>
                    <a:pt x="26090" y="272731"/>
                    <a:pt x="0" y="246641"/>
                    <a:pt x="0" y="214458"/>
                  </a:cubicBezTo>
                  <a:lnTo>
                    <a:pt x="0" y="58274"/>
                  </a:lnTo>
                  <a:cubicBezTo>
                    <a:pt x="0" y="26090"/>
                    <a:pt x="26090" y="0"/>
                    <a:pt x="58274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784516" cy="329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Spike Testing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4393" y="2760049"/>
            <a:ext cx="7062200" cy="1035527"/>
            <a:chOff x="0" y="0"/>
            <a:chExt cx="1860003" cy="2727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60003" cy="272731"/>
            </a:xfrm>
            <a:custGeom>
              <a:avLst/>
              <a:gdLst/>
              <a:ahLst/>
              <a:cxnLst/>
              <a:rect l="l" t="t" r="r" b="b"/>
              <a:pathLst>
                <a:path w="1860003" h="272731">
                  <a:moveTo>
                    <a:pt x="55909" y="0"/>
                  </a:moveTo>
                  <a:lnTo>
                    <a:pt x="1804095" y="0"/>
                  </a:lnTo>
                  <a:cubicBezTo>
                    <a:pt x="1818923" y="0"/>
                    <a:pt x="1833143" y="5890"/>
                    <a:pt x="1843628" y="16375"/>
                  </a:cubicBezTo>
                  <a:cubicBezTo>
                    <a:pt x="1854113" y="26860"/>
                    <a:pt x="1860003" y="41081"/>
                    <a:pt x="1860003" y="55909"/>
                  </a:cubicBezTo>
                  <a:lnTo>
                    <a:pt x="1860003" y="216823"/>
                  </a:lnTo>
                  <a:cubicBezTo>
                    <a:pt x="1860003" y="247700"/>
                    <a:pt x="1834972" y="272731"/>
                    <a:pt x="1804095" y="272731"/>
                  </a:cubicBezTo>
                  <a:lnTo>
                    <a:pt x="55909" y="272731"/>
                  </a:lnTo>
                  <a:cubicBezTo>
                    <a:pt x="25031" y="272731"/>
                    <a:pt x="0" y="247700"/>
                    <a:pt x="0" y="216823"/>
                  </a:cubicBezTo>
                  <a:lnTo>
                    <a:pt x="0" y="55909"/>
                  </a:lnTo>
                  <a:cubicBezTo>
                    <a:pt x="0" y="25031"/>
                    <a:pt x="25031" y="0"/>
                    <a:pt x="55909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860003" cy="329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Soak Testing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74773" y="3946867"/>
            <a:ext cx="6257621" cy="16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•Одночасна спроба N користувачів забронювати одне місце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•Максимізація ймовірності race condition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•1 ітерація на VU (виконавець per-vu-iterations у k6)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•Перед кожним тестом: reset стану БД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44287" y="3946867"/>
            <a:ext cx="7138192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•Безперервне циклічне навантаження протягом 30 секунд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•Виконавець constant-vus (k6)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•Перевірка стабільності та деградації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•6 рівнів навантаження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44021" y="6384632"/>
            <a:ext cx="6775586" cy="1035527"/>
            <a:chOff x="0" y="0"/>
            <a:chExt cx="1784516" cy="2727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84516" cy="272731"/>
            </a:xfrm>
            <a:custGeom>
              <a:avLst/>
              <a:gdLst/>
              <a:ahLst/>
              <a:cxnLst/>
              <a:rect l="l" t="t" r="r" b="b"/>
              <a:pathLst>
                <a:path w="1784516" h="272731">
                  <a:moveTo>
                    <a:pt x="58274" y="0"/>
                  </a:moveTo>
                  <a:lnTo>
                    <a:pt x="1726243" y="0"/>
                  </a:lnTo>
                  <a:cubicBezTo>
                    <a:pt x="1758426" y="0"/>
                    <a:pt x="1784516" y="26090"/>
                    <a:pt x="1784516" y="58274"/>
                  </a:cubicBezTo>
                  <a:lnTo>
                    <a:pt x="1784516" y="214458"/>
                  </a:lnTo>
                  <a:cubicBezTo>
                    <a:pt x="1784516" y="246641"/>
                    <a:pt x="1758426" y="272731"/>
                    <a:pt x="1726243" y="272731"/>
                  </a:cubicBezTo>
                  <a:lnTo>
                    <a:pt x="58274" y="272731"/>
                  </a:lnTo>
                  <a:cubicBezTo>
                    <a:pt x="26090" y="272731"/>
                    <a:pt x="0" y="246641"/>
                    <a:pt x="0" y="214458"/>
                  </a:cubicBezTo>
                  <a:lnTo>
                    <a:pt x="0" y="58274"/>
                  </a:lnTo>
                  <a:cubicBezTo>
                    <a:pt x="0" y="26090"/>
                    <a:pt x="26090" y="0"/>
                    <a:pt x="58274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784516" cy="329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Рівні навантаження 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25591" y="6384632"/>
            <a:ext cx="6775586" cy="1035527"/>
            <a:chOff x="0" y="0"/>
            <a:chExt cx="1784516" cy="2727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84516" cy="272731"/>
            </a:xfrm>
            <a:custGeom>
              <a:avLst/>
              <a:gdLst/>
              <a:ahLst/>
              <a:cxnLst/>
              <a:rect l="l" t="t" r="r" b="b"/>
              <a:pathLst>
                <a:path w="1784516" h="272731">
                  <a:moveTo>
                    <a:pt x="58274" y="0"/>
                  </a:moveTo>
                  <a:lnTo>
                    <a:pt x="1726243" y="0"/>
                  </a:lnTo>
                  <a:cubicBezTo>
                    <a:pt x="1758426" y="0"/>
                    <a:pt x="1784516" y="26090"/>
                    <a:pt x="1784516" y="58274"/>
                  </a:cubicBezTo>
                  <a:lnTo>
                    <a:pt x="1784516" y="214458"/>
                  </a:lnTo>
                  <a:cubicBezTo>
                    <a:pt x="1784516" y="246641"/>
                    <a:pt x="1758426" y="272731"/>
                    <a:pt x="1726243" y="272731"/>
                  </a:cubicBezTo>
                  <a:lnTo>
                    <a:pt x="58274" y="272731"/>
                  </a:lnTo>
                  <a:cubicBezTo>
                    <a:pt x="26090" y="272731"/>
                    <a:pt x="0" y="246641"/>
                    <a:pt x="0" y="214458"/>
                  </a:cubicBezTo>
                  <a:lnTo>
                    <a:pt x="0" y="58274"/>
                  </a:lnTo>
                  <a:cubicBezTo>
                    <a:pt x="0" y="26090"/>
                    <a:pt x="26090" y="0"/>
                    <a:pt x="58274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784516" cy="329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Метрики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4021" y="7574982"/>
            <a:ext cx="2258529" cy="1050858"/>
            <a:chOff x="0" y="0"/>
            <a:chExt cx="594839" cy="2767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94839" cy="276769"/>
            </a:xfrm>
            <a:custGeom>
              <a:avLst/>
              <a:gdLst/>
              <a:ahLst/>
              <a:cxnLst/>
              <a:rect l="l" t="t" r="r" b="b"/>
              <a:pathLst>
                <a:path w="594839" h="276769">
                  <a:moveTo>
                    <a:pt x="138385" y="0"/>
                  </a:moveTo>
                  <a:lnTo>
                    <a:pt x="456454" y="0"/>
                  </a:lnTo>
                  <a:cubicBezTo>
                    <a:pt x="532882" y="0"/>
                    <a:pt x="594839" y="61957"/>
                    <a:pt x="594839" y="138385"/>
                  </a:cubicBezTo>
                  <a:lnTo>
                    <a:pt x="594839" y="138385"/>
                  </a:lnTo>
                  <a:cubicBezTo>
                    <a:pt x="594839" y="175086"/>
                    <a:pt x="580259" y="210285"/>
                    <a:pt x="554307" y="236237"/>
                  </a:cubicBezTo>
                  <a:cubicBezTo>
                    <a:pt x="528355" y="262189"/>
                    <a:pt x="493156" y="276769"/>
                    <a:pt x="456454" y="276769"/>
                  </a:cubicBezTo>
                  <a:lnTo>
                    <a:pt x="138385" y="276769"/>
                  </a:lnTo>
                  <a:cubicBezTo>
                    <a:pt x="61957" y="276769"/>
                    <a:pt x="0" y="214812"/>
                    <a:pt x="0" y="138385"/>
                  </a:cubicBezTo>
                  <a:lnTo>
                    <a:pt x="0" y="138385"/>
                  </a:lnTo>
                  <a:cubicBezTo>
                    <a:pt x="0" y="61957"/>
                    <a:pt x="61957" y="0"/>
                    <a:pt x="138385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594839" cy="32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5 VU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44021" y="8697194"/>
            <a:ext cx="2258529" cy="1050858"/>
            <a:chOff x="0" y="0"/>
            <a:chExt cx="594839" cy="27676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4839" cy="276769"/>
            </a:xfrm>
            <a:custGeom>
              <a:avLst/>
              <a:gdLst/>
              <a:ahLst/>
              <a:cxnLst/>
              <a:rect l="l" t="t" r="r" b="b"/>
              <a:pathLst>
                <a:path w="594839" h="276769">
                  <a:moveTo>
                    <a:pt x="138385" y="0"/>
                  </a:moveTo>
                  <a:lnTo>
                    <a:pt x="456454" y="0"/>
                  </a:lnTo>
                  <a:cubicBezTo>
                    <a:pt x="532882" y="0"/>
                    <a:pt x="594839" y="61957"/>
                    <a:pt x="594839" y="138385"/>
                  </a:cubicBezTo>
                  <a:lnTo>
                    <a:pt x="594839" y="138385"/>
                  </a:lnTo>
                  <a:cubicBezTo>
                    <a:pt x="594839" y="175086"/>
                    <a:pt x="580259" y="210285"/>
                    <a:pt x="554307" y="236237"/>
                  </a:cubicBezTo>
                  <a:cubicBezTo>
                    <a:pt x="528355" y="262189"/>
                    <a:pt x="493156" y="276769"/>
                    <a:pt x="456454" y="276769"/>
                  </a:cubicBezTo>
                  <a:lnTo>
                    <a:pt x="138385" y="276769"/>
                  </a:lnTo>
                  <a:cubicBezTo>
                    <a:pt x="61957" y="276769"/>
                    <a:pt x="0" y="214812"/>
                    <a:pt x="0" y="138385"/>
                  </a:cubicBezTo>
                  <a:lnTo>
                    <a:pt x="0" y="138385"/>
                  </a:lnTo>
                  <a:cubicBezTo>
                    <a:pt x="0" y="61957"/>
                    <a:pt x="61957" y="0"/>
                    <a:pt x="138385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594839" cy="32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100 VU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502549" y="7539305"/>
            <a:ext cx="2258529" cy="1050858"/>
            <a:chOff x="0" y="0"/>
            <a:chExt cx="594839" cy="27676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94839" cy="276769"/>
            </a:xfrm>
            <a:custGeom>
              <a:avLst/>
              <a:gdLst/>
              <a:ahLst/>
              <a:cxnLst/>
              <a:rect l="l" t="t" r="r" b="b"/>
              <a:pathLst>
                <a:path w="594839" h="276769">
                  <a:moveTo>
                    <a:pt x="138385" y="0"/>
                  </a:moveTo>
                  <a:lnTo>
                    <a:pt x="456454" y="0"/>
                  </a:lnTo>
                  <a:cubicBezTo>
                    <a:pt x="532882" y="0"/>
                    <a:pt x="594839" y="61957"/>
                    <a:pt x="594839" y="138385"/>
                  </a:cubicBezTo>
                  <a:lnTo>
                    <a:pt x="594839" y="138385"/>
                  </a:lnTo>
                  <a:cubicBezTo>
                    <a:pt x="594839" y="175086"/>
                    <a:pt x="580259" y="210285"/>
                    <a:pt x="554307" y="236237"/>
                  </a:cubicBezTo>
                  <a:cubicBezTo>
                    <a:pt x="528355" y="262189"/>
                    <a:pt x="493156" y="276769"/>
                    <a:pt x="456454" y="276769"/>
                  </a:cubicBezTo>
                  <a:lnTo>
                    <a:pt x="138385" y="276769"/>
                  </a:lnTo>
                  <a:cubicBezTo>
                    <a:pt x="61957" y="276769"/>
                    <a:pt x="0" y="214812"/>
                    <a:pt x="0" y="138385"/>
                  </a:cubicBezTo>
                  <a:lnTo>
                    <a:pt x="0" y="138385"/>
                  </a:lnTo>
                  <a:cubicBezTo>
                    <a:pt x="0" y="61957"/>
                    <a:pt x="61957" y="0"/>
                    <a:pt x="138385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594839" cy="32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10 VU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502549" y="8661517"/>
            <a:ext cx="2258529" cy="1050858"/>
            <a:chOff x="0" y="0"/>
            <a:chExt cx="594839" cy="27676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94839" cy="276769"/>
            </a:xfrm>
            <a:custGeom>
              <a:avLst/>
              <a:gdLst/>
              <a:ahLst/>
              <a:cxnLst/>
              <a:rect l="l" t="t" r="r" b="b"/>
              <a:pathLst>
                <a:path w="594839" h="276769">
                  <a:moveTo>
                    <a:pt x="138385" y="0"/>
                  </a:moveTo>
                  <a:lnTo>
                    <a:pt x="456454" y="0"/>
                  </a:lnTo>
                  <a:cubicBezTo>
                    <a:pt x="532882" y="0"/>
                    <a:pt x="594839" y="61957"/>
                    <a:pt x="594839" y="138385"/>
                  </a:cubicBezTo>
                  <a:lnTo>
                    <a:pt x="594839" y="138385"/>
                  </a:lnTo>
                  <a:cubicBezTo>
                    <a:pt x="594839" y="175086"/>
                    <a:pt x="580259" y="210285"/>
                    <a:pt x="554307" y="236237"/>
                  </a:cubicBezTo>
                  <a:cubicBezTo>
                    <a:pt x="528355" y="262189"/>
                    <a:pt x="493156" y="276769"/>
                    <a:pt x="456454" y="276769"/>
                  </a:cubicBezTo>
                  <a:lnTo>
                    <a:pt x="138385" y="276769"/>
                  </a:lnTo>
                  <a:cubicBezTo>
                    <a:pt x="61957" y="276769"/>
                    <a:pt x="0" y="214812"/>
                    <a:pt x="0" y="138385"/>
                  </a:cubicBezTo>
                  <a:lnTo>
                    <a:pt x="0" y="138385"/>
                  </a:lnTo>
                  <a:cubicBezTo>
                    <a:pt x="0" y="61957"/>
                    <a:pt x="61957" y="0"/>
                    <a:pt x="138385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594839" cy="32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500 VU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61078" y="7539305"/>
            <a:ext cx="2258529" cy="1050858"/>
            <a:chOff x="0" y="0"/>
            <a:chExt cx="594839" cy="27676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94839" cy="276769"/>
            </a:xfrm>
            <a:custGeom>
              <a:avLst/>
              <a:gdLst/>
              <a:ahLst/>
              <a:cxnLst/>
              <a:rect l="l" t="t" r="r" b="b"/>
              <a:pathLst>
                <a:path w="594839" h="276769">
                  <a:moveTo>
                    <a:pt x="138385" y="0"/>
                  </a:moveTo>
                  <a:lnTo>
                    <a:pt x="456454" y="0"/>
                  </a:lnTo>
                  <a:cubicBezTo>
                    <a:pt x="532882" y="0"/>
                    <a:pt x="594839" y="61957"/>
                    <a:pt x="594839" y="138385"/>
                  </a:cubicBezTo>
                  <a:lnTo>
                    <a:pt x="594839" y="138385"/>
                  </a:lnTo>
                  <a:cubicBezTo>
                    <a:pt x="594839" y="175086"/>
                    <a:pt x="580259" y="210285"/>
                    <a:pt x="554307" y="236237"/>
                  </a:cubicBezTo>
                  <a:cubicBezTo>
                    <a:pt x="528355" y="262189"/>
                    <a:pt x="493156" y="276769"/>
                    <a:pt x="456454" y="276769"/>
                  </a:cubicBezTo>
                  <a:lnTo>
                    <a:pt x="138385" y="276769"/>
                  </a:lnTo>
                  <a:cubicBezTo>
                    <a:pt x="61957" y="276769"/>
                    <a:pt x="0" y="214812"/>
                    <a:pt x="0" y="138385"/>
                  </a:cubicBezTo>
                  <a:lnTo>
                    <a:pt x="0" y="138385"/>
                  </a:lnTo>
                  <a:cubicBezTo>
                    <a:pt x="0" y="61957"/>
                    <a:pt x="61957" y="0"/>
                    <a:pt x="138385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594839" cy="32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50 VU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61078" y="8661517"/>
            <a:ext cx="2258529" cy="1050858"/>
            <a:chOff x="0" y="0"/>
            <a:chExt cx="594839" cy="276769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94839" cy="276769"/>
            </a:xfrm>
            <a:custGeom>
              <a:avLst/>
              <a:gdLst/>
              <a:ahLst/>
              <a:cxnLst/>
              <a:rect l="l" t="t" r="r" b="b"/>
              <a:pathLst>
                <a:path w="594839" h="276769">
                  <a:moveTo>
                    <a:pt x="138385" y="0"/>
                  </a:moveTo>
                  <a:lnTo>
                    <a:pt x="456454" y="0"/>
                  </a:lnTo>
                  <a:cubicBezTo>
                    <a:pt x="532882" y="0"/>
                    <a:pt x="594839" y="61957"/>
                    <a:pt x="594839" y="138385"/>
                  </a:cubicBezTo>
                  <a:lnTo>
                    <a:pt x="594839" y="138385"/>
                  </a:lnTo>
                  <a:cubicBezTo>
                    <a:pt x="594839" y="175086"/>
                    <a:pt x="580259" y="210285"/>
                    <a:pt x="554307" y="236237"/>
                  </a:cubicBezTo>
                  <a:cubicBezTo>
                    <a:pt x="528355" y="262189"/>
                    <a:pt x="493156" y="276769"/>
                    <a:pt x="456454" y="276769"/>
                  </a:cubicBezTo>
                  <a:lnTo>
                    <a:pt x="138385" y="276769"/>
                  </a:lnTo>
                  <a:cubicBezTo>
                    <a:pt x="61957" y="276769"/>
                    <a:pt x="0" y="214812"/>
                    <a:pt x="0" y="138385"/>
                  </a:cubicBezTo>
                  <a:lnTo>
                    <a:pt x="0" y="138385"/>
                  </a:lnTo>
                  <a:cubicBezTo>
                    <a:pt x="0" y="61957"/>
                    <a:pt x="61957" y="0"/>
                    <a:pt x="138385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594839" cy="3243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1000 VU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678001" y="7536882"/>
            <a:ext cx="6581299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•Коректність: кількість успішних бронювань (норма = 1)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•Latency: avg, p90, p95, max (мс)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•Throughput: RPS (requests per second)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057893" cy="1608782"/>
            <a:chOff x="0" y="0"/>
            <a:chExt cx="4229239" cy="42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29239" cy="423712"/>
            </a:xfrm>
            <a:custGeom>
              <a:avLst/>
              <a:gdLst/>
              <a:ahLst/>
              <a:cxnLst/>
              <a:rect l="l" t="t" r="r" b="b"/>
              <a:pathLst>
                <a:path w="4229239" h="423712">
                  <a:moveTo>
                    <a:pt x="24588" y="0"/>
                  </a:moveTo>
                  <a:lnTo>
                    <a:pt x="4204651" y="0"/>
                  </a:lnTo>
                  <a:cubicBezTo>
                    <a:pt x="4211172" y="0"/>
                    <a:pt x="4217426" y="2591"/>
                    <a:pt x="4222037" y="7202"/>
                  </a:cubicBezTo>
                  <a:cubicBezTo>
                    <a:pt x="4226649" y="11813"/>
                    <a:pt x="4229239" y="18067"/>
                    <a:pt x="4229239" y="24588"/>
                  </a:cubicBezTo>
                  <a:lnTo>
                    <a:pt x="4229239" y="399124"/>
                  </a:lnTo>
                  <a:cubicBezTo>
                    <a:pt x="4229239" y="405645"/>
                    <a:pt x="4226649" y="411899"/>
                    <a:pt x="4222037" y="416510"/>
                  </a:cubicBezTo>
                  <a:cubicBezTo>
                    <a:pt x="4217426" y="421122"/>
                    <a:pt x="4211172" y="423712"/>
                    <a:pt x="4204651" y="423712"/>
                  </a:cubicBezTo>
                  <a:lnTo>
                    <a:pt x="24588" y="423712"/>
                  </a:lnTo>
                  <a:cubicBezTo>
                    <a:pt x="18067" y="423712"/>
                    <a:pt x="11813" y="421122"/>
                    <a:pt x="7202" y="416510"/>
                  </a:cubicBezTo>
                  <a:cubicBezTo>
                    <a:pt x="2591" y="411899"/>
                    <a:pt x="0" y="405645"/>
                    <a:pt x="0" y="399124"/>
                  </a:cubicBezTo>
                  <a:lnTo>
                    <a:pt x="0" y="24588"/>
                  </a:lnTo>
                  <a:cubicBezTo>
                    <a:pt x="0" y="18067"/>
                    <a:pt x="2591" y="11813"/>
                    <a:pt x="7202" y="7202"/>
                  </a:cubicBezTo>
                  <a:cubicBezTo>
                    <a:pt x="11813" y="2591"/>
                    <a:pt x="18067" y="0"/>
                    <a:pt x="24588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229239" cy="49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endParaRPr/>
            </a:p>
          </p:txBody>
        </p:sp>
      </p:grpSp>
      <p:graphicFrame>
        <p:nvGraphicFramePr>
          <p:cNvPr id="5" name="Object 5"/>
          <p:cNvGraphicFramePr/>
          <p:nvPr>
            <p:extLst>
              <p:ext uri="{D42A27DB-BD31-4B8C-83A1-F6EECF244321}">
                <p14:modId xmlns:p14="http://schemas.microsoft.com/office/powerpoint/2010/main" val="2522160568"/>
              </p:ext>
            </p:extLst>
          </p:nvPr>
        </p:nvGraphicFramePr>
        <p:xfrm>
          <a:off x="1905000" y="2926804"/>
          <a:ext cx="14203362" cy="3598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4668677" imgH="3284204" progId="Excel.Sheet.12">
                  <p:embed/>
                </p:oleObj>
              </mc:Choice>
              <mc:Fallback>
                <p:oleObj name="Worksheet" r:id="rId2" imgW="14668677" imgH="328420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5000" y="2926804"/>
                        <a:ext cx="14203362" cy="3598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6"/>
          <p:cNvSpPr/>
          <p:nvPr/>
        </p:nvSpPr>
        <p:spPr>
          <a:xfrm>
            <a:off x="1600200" y="6535757"/>
            <a:ext cx="6823513" cy="3184306"/>
          </a:xfrm>
          <a:custGeom>
            <a:avLst/>
            <a:gdLst/>
            <a:ahLst/>
            <a:cxnLst/>
            <a:rect l="l" t="t" r="r" b="b"/>
            <a:pathLst>
              <a:path w="6823513" h="3184306">
                <a:moveTo>
                  <a:pt x="0" y="0"/>
                </a:moveTo>
                <a:lnTo>
                  <a:pt x="6823513" y="0"/>
                </a:lnTo>
                <a:lnTo>
                  <a:pt x="6823513" y="3184306"/>
                </a:lnTo>
                <a:lnTo>
                  <a:pt x="0" y="3184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64287" y="6535757"/>
            <a:ext cx="6823513" cy="3184306"/>
          </a:xfrm>
          <a:custGeom>
            <a:avLst/>
            <a:gdLst/>
            <a:ahLst/>
            <a:cxnLst/>
            <a:rect l="l" t="t" r="r" b="b"/>
            <a:pathLst>
              <a:path w="6823513" h="3184306">
                <a:moveTo>
                  <a:pt x="0" y="0"/>
                </a:moveTo>
                <a:lnTo>
                  <a:pt x="6823513" y="0"/>
                </a:lnTo>
                <a:lnTo>
                  <a:pt x="6823513" y="3184306"/>
                </a:lnTo>
                <a:lnTo>
                  <a:pt x="0" y="3184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00200" y="1455266"/>
            <a:ext cx="1464640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Результати навантажувального тестування (1000 VU)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057893" cy="1608782"/>
            <a:chOff x="0" y="0"/>
            <a:chExt cx="4229239" cy="42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29239" cy="423712"/>
            </a:xfrm>
            <a:custGeom>
              <a:avLst/>
              <a:gdLst/>
              <a:ahLst/>
              <a:cxnLst/>
              <a:rect l="l" t="t" r="r" b="b"/>
              <a:pathLst>
                <a:path w="4229239" h="423712">
                  <a:moveTo>
                    <a:pt x="24588" y="0"/>
                  </a:moveTo>
                  <a:lnTo>
                    <a:pt x="4204651" y="0"/>
                  </a:lnTo>
                  <a:cubicBezTo>
                    <a:pt x="4211172" y="0"/>
                    <a:pt x="4217426" y="2591"/>
                    <a:pt x="4222037" y="7202"/>
                  </a:cubicBezTo>
                  <a:cubicBezTo>
                    <a:pt x="4226649" y="11813"/>
                    <a:pt x="4229239" y="18067"/>
                    <a:pt x="4229239" y="24588"/>
                  </a:cubicBezTo>
                  <a:lnTo>
                    <a:pt x="4229239" y="399124"/>
                  </a:lnTo>
                  <a:cubicBezTo>
                    <a:pt x="4229239" y="405645"/>
                    <a:pt x="4226649" y="411899"/>
                    <a:pt x="4222037" y="416510"/>
                  </a:cubicBezTo>
                  <a:cubicBezTo>
                    <a:pt x="4217426" y="421122"/>
                    <a:pt x="4211172" y="423712"/>
                    <a:pt x="4204651" y="423712"/>
                  </a:cubicBezTo>
                  <a:lnTo>
                    <a:pt x="24588" y="423712"/>
                  </a:lnTo>
                  <a:cubicBezTo>
                    <a:pt x="18067" y="423712"/>
                    <a:pt x="11813" y="421122"/>
                    <a:pt x="7202" y="416510"/>
                  </a:cubicBezTo>
                  <a:cubicBezTo>
                    <a:pt x="2591" y="411899"/>
                    <a:pt x="0" y="405645"/>
                    <a:pt x="0" y="399124"/>
                  </a:cubicBezTo>
                  <a:lnTo>
                    <a:pt x="0" y="24588"/>
                  </a:lnTo>
                  <a:cubicBezTo>
                    <a:pt x="0" y="18067"/>
                    <a:pt x="2591" y="11813"/>
                    <a:pt x="7202" y="7202"/>
                  </a:cubicBezTo>
                  <a:cubicBezTo>
                    <a:pt x="11813" y="2591"/>
                    <a:pt x="18067" y="0"/>
                    <a:pt x="24588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229239" cy="49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0200" y="1455266"/>
            <a:ext cx="1464640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Порівняльний аналіз патернів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48851" y="2977854"/>
            <a:ext cx="7258434" cy="3399182"/>
            <a:chOff x="0" y="0"/>
            <a:chExt cx="11006671" cy="51545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06709" cy="5154549"/>
            </a:xfrm>
            <a:custGeom>
              <a:avLst/>
              <a:gdLst/>
              <a:ahLst/>
              <a:cxnLst/>
              <a:rect l="l" t="t" r="r" b="b"/>
              <a:pathLst>
                <a:path w="11006709" h="5154549">
                  <a:moveTo>
                    <a:pt x="0" y="0"/>
                  </a:moveTo>
                  <a:lnTo>
                    <a:pt x="11006709" y="0"/>
                  </a:lnTo>
                  <a:lnTo>
                    <a:pt x="11006709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448851" y="2977854"/>
            <a:ext cx="7258434" cy="826347"/>
            <a:chOff x="0" y="0"/>
            <a:chExt cx="11006671" cy="12530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006709" cy="1253109"/>
            </a:xfrm>
            <a:custGeom>
              <a:avLst/>
              <a:gdLst/>
              <a:ahLst/>
              <a:cxnLst/>
              <a:rect l="l" t="t" r="r" b="b"/>
              <a:pathLst>
                <a:path w="11006709" h="1253109">
                  <a:moveTo>
                    <a:pt x="0" y="0"/>
                  </a:moveTo>
                  <a:lnTo>
                    <a:pt x="11006709" y="0"/>
                  </a:lnTo>
                  <a:lnTo>
                    <a:pt x="1100670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0D9488"/>
            </a:solidFill>
            <a:ln w="25400" cap="sq">
              <a:solidFill>
                <a:srgbClr val="0D948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652977" y="2989018"/>
            <a:ext cx="6914493" cy="804011"/>
            <a:chOff x="0" y="0"/>
            <a:chExt cx="1048512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85120" cy="1219200"/>
            </a:xfrm>
            <a:custGeom>
              <a:avLst/>
              <a:gdLst/>
              <a:ahLst/>
              <a:cxnLst/>
              <a:rect l="l" t="t" r="r" b="b"/>
              <a:pathLst>
                <a:path w="10485120" h="121920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04851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DB Constraint  —   Найкраща продуктивність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81619" y="3913630"/>
            <a:ext cx="6592889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Найнижча затримка: 136 мс avg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Найвищий RPS: 130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Мінімальні накладні витрати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Стабільність при Soak-тесті: 75 мс avg / 642 RPS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991B1B"/>
                </a:solidFill>
                <a:latin typeface="Open Sans 2"/>
                <a:ea typeface="Open Sans 2"/>
                <a:cs typeface="Open Sans 2"/>
                <a:sym typeface="Open Sans 2"/>
              </a:rPr>
              <a:t>− Не підходить для складної бізнес-логіки перед записом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676410" y="2868420"/>
            <a:ext cx="7258434" cy="3399182"/>
            <a:chOff x="0" y="0"/>
            <a:chExt cx="11006671" cy="51545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006709" cy="5154549"/>
            </a:xfrm>
            <a:custGeom>
              <a:avLst/>
              <a:gdLst/>
              <a:ahLst/>
              <a:cxnLst/>
              <a:rect l="l" t="t" r="r" b="b"/>
              <a:pathLst>
                <a:path w="11006709" h="5154549">
                  <a:moveTo>
                    <a:pt x="0" y="0"/>
                  </a:moveTo>
                  <a:lnTo>
                    <a:pt x="11006709" y="0"/>
                  </a:lnTo>
                  <a:lnTo>
                    <a:pt x="11006709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9676410" y="2868420"/>
            <a:ext cx="7258434" cy="826347"/>
            <a:chOff x="0" y="0"/>
            <a:chExt cx="11006671" cy="12530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006709" cy="1253109"/>
            </a:xfrm>
            <a:custGeom>
              <a:avLst/>
              <a:gdLst/>
              <a:ahLst/>
              <a:cxnLst/>
              <a:rect l="l" t="t" r="r" b="b"/>
              <a:pathLst>
                <a:path w="11006709" h="1253109">
                  <a:moveTo>
                    <a:pt x="0" y="0"/>
                  </a:moveTo>
                  <a:lnTo>
                    <a:pt x="11006709" y="0"/>
                  </a:lnTo>
                  <a:lnTo>
                    <a:pt x="1100670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0D6E8A"/>
            </a:solidFill>
            <a:ln w="25400" cap="sq">
              <a:solidFill>
                <a:srgbClr val="0D6E8A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880536" y="2879584"/>
            <a:ext cx="6914493" cy="804011"/>
            <a:chOff x="0" y="0"/>
            <a:chExt cx="1048512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85120" cy="1219200"/>
            </a:xfrm>
            <a:custGeom>
              <a:avLst/>
              <a:gdLst/>
              <a:ahLst/>
              <a:cxnLst/>
              <a:rect l="l" t="t" r="r" b="b"/>
              <a:pathLst>
                <a:path w="10485120" h="121920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104851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Optimistic Lock  —   Збалансований вибір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009178" y="3804197"/>
            <a:ext cx="6592889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+ 178 мс avg, 131 RPS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Відсутність черги очікування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Паралельне виконання запитів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991B1B"/>
                </a:solidFill>
                <a:latin typeface="Open Sans 2"/>
                <a:ea typeface="Open Sans 2"/>
                <a:cs typeface="Open Sans 2"/>
                <a:sym typeface="Open Sans 2"/>
              </a:rPr>
              <a:t>− Обробка конфліктів на рівні API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991B1B"/>
                </a:solidFill>
                <a:latin typeface="Open Sans 2"/>
                <a:ea typeface="Open Sans 2"/>
                <a:cs typeface="Open Sans 2"/>
                <a:sym typeface="Open Sans 2"/>
              </a:rPr>
              <a:t>− Менш ефективний при дуже частих конфліктах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48851" y="6595902"/>
            <a:ext cx="7258434" cy="3399182"/>
            <a:chOff x="0" y="0"/>
            <a:chExt cx="11006671" cy="515451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006709" cy="5154549"/>
            </a:xfrm>
            <a:custGeom>
              <a:avLst/>
              <a:gdLst/>
              <a:ahLst/>
              <a:cxnLst/>
              <a:rect l="l" t="t" r="r" b="b"/>
              <a:pathLst>
                <a:path w="11006709" h="5154549">
                  <a:moveTo>
                    <a:pt x="0" y="0"/>
                  </a:moveTo>
                  <a:lnTo>
                    <a:pt x="11006709" y="0"/>
                  </a:lnTo>
                  <a:lnTo>
                    <a:pt x="11006709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448851" y="6595902"/>
            <a:ext cx="7258434" cy="826347"/>
            <a:chOff x="0" y="0"/>
            <a:chExt cx="11006671" cy="125307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006709" cy="1253109"/>
            </a:xfrm>
            <a:custGeom>
              <a:avLst/>
              <a:gdLst/>
              <a:ahLst/>
              <a:cxnLst/>
              <a:rect l="l" t="t" r="r" b="b"/>
              <a:pathLst>
                <a:path w="11006709" h="1253109">
                  <a:moveTo>
                    <a:pt x="0" y="0"/>
                  </a:moveTo>
                  <a:lnTo>
                    <a:pt x="11006709" y="0"/>
                  </a:lnTo>
                  <a:lnTo>
                    <a:pt x="1100670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1A2B5E"/>
            </a:solidFill>
            <a:ln w="25400" cap="sq">
              <a:solidFill>
                <a:srgbClr val="1A2B5E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1652977" y="6607066"/>
            <a:ext cx="6914493" cy="804011"/>
            <a:chOff x="0" y="0"/>
            <a:chExt cx="1048512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485120" cy="1219200"/>
            </a:xfrm>
            <a:custGeom>
              <a:avLst/>
              <a:gdLst/>
              <a:ahLst/>
              <a:cxnLst/>
              <a:rect l="l" t="t" r="r" b="b"/>
              <a:pathLst>
                <a:path w="10485120" h="121920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104851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Pessimistic Lock  —   Максимальна надійність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781619" y="7531679"/>
            <a:ext cx="6592889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Гарантована цілісність даних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Основа для Soft Reservation патерну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Ідеальний для складної бізнес-логіки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991B1B"/>
                </a:solidFill>
                <a:latin typeface="Open Sans 2"/>
                <a:ea typeface="Open Sans 2"/>
                <a:cs typeface="Open Sans 2"/>
                <a:sym typeface="Open Sans 2"/>
              </a:rPr>
              <a:t>− 354 мс avg (найвищий)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991B1B"/>
                </a:solidFill>
                <a:latin typeface="Open Sans 2"/>
                <a:ea typeface="Open Sans 2"/>
                <a:cs typeface="Open Sans 2"/>
                <a:sym typeface="Open Sans 2"/>
              </a:rPr>
              <a:t>− Черга очікування зростає з навантаженням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676410" y="6486469"/>
            <a:ext cx="7258434" cy="3399182"/>
            <a:chOff x="0" y="0"/>
            <a:chExt cx="11006671" cy="515451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006709" cy="5154549"/>
            </a:xfrm>
            <a:custGeom>
              <a:avLst/>
              <a:gdLst/>
              <a:ahLst/>
              <a:cxnLst/>
              <a:rect l="l" t="t" r="r" b="b"/>
              <a:pathLst>
                <a:path w="11006709" h="5154549">
                  <a:moveTo>
                    <a:pt x="0" y="0"/>
                  </a:moveTo>
                  <a:lnTo>
                    <a:pt x="11006709" y="0"/>
                  </a:lnTo>
                  <a:lnTo>
                    <a:pt x="11006709" y="5154549"/>
                  </a:lnTo>
                  <a:lnTo>
                    <a:pt x="0" y="51545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1D5DB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9676410" y="6486469"/>
            <a:ext cx="7258434" cy="826347"/>
            <a:chOff x="0" y="0"/>
            <a:chExt cx="11006671" cy="125307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006709" cy="1253109"/>
            </a:xfrm>
            <a:custGeom>
              <a:avLst/>
              <a:gdLst/>
              <a:ahLst/>
              <a:cxnLst/>
              <a:rect l="l" t="t" r="r" b="b"/>
              <a:pathLst>
                <a:path w="11006709" h="1253109">
                  <a:moveTo>
                    <a:pt x="0" y="0"/>
                  </a:moveTo>
                  <a:lnTo>
                    <a:pt x="11006709" y="0"/>
                  </a:lnTo>
                  <a:lnTo>
                    <a:pt x="1100670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DC2626"/>
            </a:solidFill>
            <a:ln w="25400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9880536" y="6497633"/>
            <a:ext cx="6914493" cy="804011"/>
            <a:chOff x="0" y="0"/>
            <a:chExt cx="1048512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485120" cy="1219200"/>
            </a:xfrm>
            <a:custGeom>
              <a:avLst/>
              <a:gdLst/>
              <a:ahLst/>
              <a:cxnLst/>
              <a:rect l="l" t="t" r="r" b="b"/>
              <a:pathLst>
                <a:path w="10485120" h="121920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048512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Naive  —   Порушення цілісності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009178" y="7422246"/>
            <a:ext cx="6592889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Найпростіша реалізація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166534"/>
                </a:solidFill>
                <a:latin typeface="Open Sans 2"/>
                <a:ea typeface="Open Sans 2"/>
                <a:cs typeface="Open Sans 2"/>
                <a:sym typeface="Open Sans 2"/>
              </a:rPr>
              <a:t>+ Прийнятна затримка без конкуренції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991B1B"/>
                </a:solidFill>
                <a:latin typeface="Open Sans 2"/>
                <a:ea typeface="Open Sans 2"/>
                <a:cs typeface="Open Sans 2"/>
                <a:sym typeface="Open Sans 2"/>
              </a:rPr>
              <a:t>− 16 дублікатів при 1000 VU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991B1B"/>
                </a:solidFill>
                <a:latin typeface="Open Sans 2"/>
                <a:ea typeface="Open Sans 2"/>
                <a:cs typeface="Open Sans 2"/>
                <a:sym typeface="Open Sans 2"/>
              </a:rPr>
              <a:t>− Race condition — продаж одного місця кільком користувачам</a:t>
            </a:r>
          </a:p>
          <a:p>
            <a:pPr algn="l">
              <a:lnSpc>
                <a:spcPts val="2110"/>
              </a:lnSpc>
            </a:pPr>
            <a:r>
              <a:rPr lang="en-US" sz="1758">
                <a:solidFill>
                  <a:srgbClr val="991B1B"/>
                </a:solidFill>
                <a:latin typeface="Open Sans 2"/>
                <a:ea typeface="Open Sans 2"/>
                <a:cs typeface="Open Sans 2"/>
                <a:sym typeface="Open Sans 2"/>
              </a:rPr>
              <a:t>− Неприйнятний для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057893" cy="1608782"/>
            <a:chOff x="0" y="0"/>
            <a:chExt cx="4229239" cy="42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29239" cy="423712"/>
            </a:xfrm>
            <a:custGeom>
              <a:avLst/>
              <a:gdLst/>
              <a:ahLst/>
              <a:cxnLst/>
              <a:rect l="l" t="t" r="r" b="b"/>
              <a:pathLst>
                <a:path w="4229239" h="423712">
                  <a:moveTo>
                    <a:pt x="24588" y="0"/>
                  </a:moveTo>
                  <a:lnTo>
                    <a:pt x="4204651" y="0"/>
                  </a:lnTo>
                  <a:cubicBezTo>
                    <a:pt x="4211172" y="0"/>
                    <a:pt x="4217426" y="2591"/>
                    <a:pt x="4222037" y="7202"/>
                  </a:cubicBezTo>
                  <a:cubicBezTo>
                    <a:pt x="4226649" y="11813"/>
                    <a:pt x="4229239" y="18067"/>
                    <a:pt x="4229239" y="24588"/>
                  </a:cubicBezTo>
                  <a:lnTo>
                    <a:pt x="4229239" y="399124"/>
                  </a:lnTo>
                  <a:cubicBezTo>
                    <a:pt x="4229239" y="405645"/>
                    <a:pt x="4226649" y="411899"/>
                    <a:pt x="4222037" y="416510"/>
                  </a:cubicBezTo>
                  <a:cubicBezTo>
                    <a:pt x="4217426" y="421122"/>
                    <a:pt x="4211172" y="423712"/>
                    <a:pt x="4204651" y="423712"/>
                  </a:cubicBezTo>
                  <a:lnTo>
                    <a:pt x="24588" y="423712"/>
                  </a:lnTo>
                  <a:cubicBezTo>
                    <a:pt x="18067" y="423712"/>
                    <a:pt x="11813" y="421122"/>
                    <a:pt x="7202" y="416510"/>
                  </a:cubicBezTo>
                  <a:cubicBezTo>
                    <a:pt x="2591" y="411899"/>
                    <a:pt x="0" y="405645"/>
                    <a:pt x="0" y="399124"/>
                  </a:cubicBezTo>
                  <a:lnTo>
                    <a:pt x="0" y="24588"/>
                  </a:lnTo>
                  <a:cubicBezTo>
                    <a:pt x="0" y="18067"/>
                    <a:pt x="2591" y="11813"/>
                    <a:pt x="7202" y="7202"/>
                  </a:cubicBezTo>
                  <a:cubicBezTo>
                    <a:pt x="11813" y="2591"/>
                    <a:pt x="18067" y="0"/>
                    <a:pt x="24588" y="0"/>
                  </a:cubicBezTo>
                  <a:close/>
                </a:path>
              </a:pathLst>
            </a:custGeom>
            <a:solidFill>
              <a:srgbClr val="D8ED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4229239" cy="499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00200" y="1455266"/>
            <a:ext cx="1464640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Висновки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2997624"/>
            <a:ext cx="741373" cy="741373"/>
            <a:chOff x="0" y="0"/>
            <a:chExt cx="1131151" cy="11311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39796" y="3008720"/>
            <a:ext cx="719174" cy="719174"/>
            <a:chOff x="0" y="0"/>
            <a:chExt cx="1097280" cy="1097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FF6FF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98694" y="2896849"/>
            <a:ext cx="13744206" cy="958898"/>
            <a:chOff x="0" y="0"/>
            <a:chExt cx="20970240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9702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Проаналізовано підходи до керування конкурентним доступом у реляційних БД та інструменти тестування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4148302"/>
            <a:ext cx="741373" cy="741373"/>
            <a:chOff x="0" y="0"/>
            <a:chExt cx="1131151" cy="11311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39796" y="4159398"/>
            <a:ext cx="719174" cy="719174"/>
            <a:chOff x="0" y="0"/>
            <a:chExt cx="1097280" cy="109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FF6FF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998694" y="4047526"/>
            <a:ext cx="13744206" cy="958898"/>
            <a:chOff x="0" y="0"/>
            <a:chExt cx="20970240" cy="14630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09702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Спроєктовано архітектуру REST API та схему БД системи бронювання залізничних квитків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5298980"/>
            <a:ext cx="741373" cy="741373"/>
            <a:chOff x="0" y="0"/>
            <a:chExt cx="1131151" cy="113115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39796" y="5310075"/>
            <a:ext cx="719174" cy="719174"/>
            <a:chOff x="0" y="0"/>
            <a:chExt cx="1097280" cy="10972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FF6FF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998694" y="5198204"/>
            <a:ext cx="13744206" cy="958898"/>
            <a:chOff x="0" y="0"/>
            <a:chExt cx="20970240" cy="14630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9702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Реалізовано 4 патерни: Naive, DB Constraint, Pessimistic Locking та Optimistic Locking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6449657"/>
            <a:ext cx="741373" cy="741373"/>
            <a:chOff x="0" y="0"/>
            <a:chExt cx="1131151" cy="113115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039796" y="6460753"/>
            <a:ext cx="719174" cy="719174"/>
            <a:chOff x="0" y="0"/>
            <a:chExt cx="1097280" cy="1097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FF6FF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998694" y="6348882"/>
            <a:ext cx="13744206" cy="958898"/>
            <a:chOff x="0" y="0"/>
            <a:chExt cx="2097024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09702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Проведено Spike- та Soak-тестування при 5–1000 VU з метриками коректності, Latency та Throughput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28700" y="7600335"/>
            <a:ext cx="741373" cy="741373"/>
            <a:chOff x="0" y="0"/>
            <a:chExt cx="1131151" cy="113115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039796" y="7611431"/>
            <a:ext cx="719174" cy="719174"/>
            <a:chOff x="0" y="0"/>
            <a:chExt cx="1097280" cy="10972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FF6FF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998694" y="7499559"/>
            <a:ext cx="13744206" cy="958898"/>
            <a:chOff x="0" y="0"/>
            <a:chExt cx="20970240" cy="14630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09702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 Constraint: найвища продуктивність (136 мс avg, 130 RPS при 1000 VU)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28700" y="8751013"/>
            <a:ext cx="741373" cy="741373"/>
            <a:chOff x="0" y="0"/>
            <a:chExt cx="1131151" cy="113115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0"/>
                  </a:moveTo>
                  <a:lnTo>
                    <a:pt x="1131189" y="0"/>
                  </a:lnTo>
                  <a:lnTo>
                    <a:pt x="1131189" y="1131189"/>
                  </a:lnTo>
                  <a:lnTo>
                    <a:pt x="0" y="1131189"/>
                  </a:ln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039796" y="8762108"/>
            <a:ext cx="719174" cy="719174"/>
            <a:chOff x="0" y="0"/>
            <a:chExt cx="1097280" cy="109728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EFF6FF">
                <a:alpha val="0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998694" y="8650237"/>
            <a:ext cx="13744206" cy="958898"/>
            <a:chOff x="0" y="0"/>
            <a:chExt cx="20970240" cy="14630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0970239" cy="1463040"/>
            </a:xfrm>
            <a:custGeom>
              <a:avLst/>
              <a:gdLst/>
              <a:ahLst/>
              <a:cxnLst/>
              <a:rect l="l" t="t" r="r" b="b"/>
              <a:pathLst>
                <a:path w="20970239" h="1463040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9285" b="-22928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0970240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Розроблено аналітичний дашборд для візуалізації та порівняння результатів тестування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549</Words>
  <Application>Microsoft Office PowerPoint</Application>
  <PresentationFormat>Custom</PresentationFormat>
  <Paragraphs>103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Open Sans 1</vt:lpstr>
      <vt:lpstr>Calibri (MS) Bold</vt:lpstr>
      <vt:lpstr>Arial</vt:lpstr>
      <vt:lpstr>Calibri</vt:lpstr>
      <vt:lpstr>Calibri (MS)</vt:lpstr>
      <vt:lpstr>Open Sans 2 Bold</vt:lpstr>
      <vt:lpstr>Open Sans 2</vt:lpstr>
      <vt:lpstr>Open Sans 1 Bold</vt:lpstr>
      <vt:lpstr>Office Theme</vt:lpstr>
      <vt:lpstr>Worksheet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ТесленкоН.О.-н.к.ІлькунО.П</dc:title>
  <cp:lastModifiedBy>Nazar Teslenko</cp:lastModifiedBy>
  <cp:revision>2</cp:revision>
  <dcterms:created xsi:type="dcterms:W3CDTF">2006-08-16T00:00:00Z</dcterms:created>
  <dcterms:modified xsi:type="dcterms:W3CDTF">2026-06-04T22:12:44Z</dcterms:modified>
  <dc:identifier>DAHLoih7eCE</dc:identifier>
</cp:coreProperties>
</file>