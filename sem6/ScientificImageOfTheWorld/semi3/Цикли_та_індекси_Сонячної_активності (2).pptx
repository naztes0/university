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77756104609161"/>
          <c:y val="0.017845802108472"/>
          <c:w val="0.817873139719694"/>
          <c:h val="0.721580083830814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Рівень активності</c:v>
                </c:pt>
              </c:strCache>
            </c:strRef>
          </c:tx>
          <c:spPr>
            <a:solidFill>
              <a:srgbClr val="f6a623"/>
            </a:solidFill>
            <a:ln w="31680">
              <a:solidFill>
                <a:srgbClr val="f6a623"/>
              </a:solidFill>
              <a:round/>
            </a:ln>
          </c:spPr>
          <c:marker>
            <c:symbol val="circle"/>
            <c:size val="6"/>
            <c:spPr>
              <a:solidFill>
                <a:srgbClr val="f6a623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13</c:v>
                </c:pt>
                <c:pt idx="8">
                  <c:v>15</c:v>
                </c:pt>
                <c:pt idx="9">
                  <c:v>17</c:v>
                </c:pt>
                <c:pt idx="10">
                  <c:v>19</c:v>
                </c:pt>
                <c:pt idx="11">
                  <c:v>21</c:v>
                </c:pt>
                <c:pt idx="12">
                  <c:v>22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8</c:v>
                </c:pt>
                <c:pt idx="1">
                  <c:v>32</c:v>
                </c:pt>
                <c:pt idx="2">
                  <c:v>70</c:v>
                </c:pt>
                <c:pt idx="3">
                  <c:v>100</c:v>
                </c:pt>
                <c:pt idx="4">
                  <c:v>75</c:v>
                </c:pt>
                <c:pt idx="5">
                  <c:v>28</c:v>
                </c:pt>
                <c:pt idx="6">
                  <c:v>8</c:v>
                </c:pt>
                <c:pt idx="7">
                  <c:v>30</c:v>
                </c:pt>
                <c:pt idx="8">
                  <c:v>68</c:v>
                </c:pt>
                <c:pt idx="9">
                  <c:v>100</c:v>
                </c:pt>
                <c:pt idx="10">
                  <c:v>78</c:v>
                </c:pt>
                <c:pt idx="11">
                  <c:v>30</c:v>
                </c:pt>
                <c:pt idx="12">
                  <c:v>10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3842288"/>
        <c:axId val="28981006"/>
      </c:lineChart>
      <c:catAx>
        <c:axId val="13842288"/>
        <c:scaling>
          <c:orientation val="minMax"/>
        </c:scaling>
        <c:delete val="0"/>
        <c:axPos val="b"/>
        <c:majorGridlines>
          <c:spPr>
            <a:ln w="12600">
              <a:solidFill>
                <a:srgbClr val="4d5a68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роки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c8d5e2"/>
                </a:solidFill>
                <a:uFillTx/>
                <a:latin typeface="Aptos"/>
              </a:defRPr>
            </a:pPr>
          </a:p>
        </c:txPr>
        <c:crossAx val="28981006"/>
        <c:crosses val="autoZero"/>
        <c:auto val="1"/>
        <c:lblAlgn val="ctr"/>
        <c:lblOffset val="100"/>
        <c:noMultiLvlLbl val="0"/>
      </c:catAx>
      <c:valAx>
        <c:axId val="28981006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4d5a6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умовний рівень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c8d5e2"/>
                </a:solidFill>
                <a:uFillTx/>
                <a:latin typeface="Aptos"/>
              </a:defRPr>
            </a:pPr>
          </a:p>
        </c:txPr>
        <c:crossAx val="13842288"/>
        <c:crosses val="autoZero"/>
        <c:crossBetween val="between"/>
        <c:majorUnit val="20"/>
      </c:valAx>
      <c:spPr>
        <a:noFill/>
        <a:ln w="12600">
          <a:solidFill>
            <a:srgbClr val="5b6774"/>
          </a:solidFill>
          <a:round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переміщення сторінки клацніть мишею</a:t>
            </a:r>
            <a:endParaRPr lang="uk-UA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формату приміток клацніть мишею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7217E1-D9E0-4EBC-9652-CDEA3D0087FC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Asset: NASA Science image on the Sun’s changing plasma atmosphere: https://science.nasa.gov/learn/heat/big-ideas/big-idea-3-1/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C4EF8-9673-4B0D-BF65-2BFD9803DC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Asset: NASA SVS solar flare image: https://svs.gsfc.nasa.gov/14270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3EAD5A-0246-49BA-B779-CB156C0B14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 (sunspots): NASA SVS https://svs.gsfc.nasa.gov/gallery/solar-cycle25/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 (prominence): NASA Visible Earth https://visibleearth.nasa.gov/view.php?id=43717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 (coronal hole): NASA JPL https://www.jpl.nasa.gov/images/pia21208-coronal-hole-coming-around/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 (full-Sun activity image): NASA Science https://science.nasa.gov/learn/heat/big-ideas/big-idea-3-1/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6FEF8-B900-4AC6-B49E-6855A76F25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5DA95-A7FD-403C-AC5A-24E6B246F2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Claim support on the ~11-year sunspot cycle: NASA SVS Solar Cycle overview https://svs.gsfc.nasa.gov/gallery/solar-cycle25/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DDAFC-469D-49E9-BF7A-0E5D55C74A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8969F-067C-4DA1-837D-4D97E4260B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Asset: NASA aurora photograph from ISS via NASA SVS https://svs.gsfc.nasa.gov/11474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7F0D9E-540A-4560-AAD7-67C7EC623E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Asset: NASA Visible Earth image of Earth’s satellite fleet https://visibleearth.nasa.gov/view.php?id=81559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GPS context reference: NASA Space Place https://spaceplace.nasa.gov/gps/en/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5F916D-5F89-4546-A91D-B11EA71EF0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User-provided text in chat.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Asset: NASA JPL coronal hole image https://www.jpl.nasa.gov/images/pia21208-coronal-hole-coming-around/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A22DC-0865-47BE-910C-13533EEE4D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тексту заголовка клацніть мишею</a:t>
            </a:r>
            <a:endParaRPr lang="uk-UA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редагування структури клацніть мишею</a:t>
            </a:r>
            <a:endParaRPr lang="uk-UA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Другий рівень структури</a:t>
            </a:r>
            <a:endParaRPr lang="uk-UA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Третій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П'ятий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Шостий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Сьомий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solar_presentation_assets/fullsun.jpg"/>
          <p:cNvPicPr/>
          <p:nvPr/>
        </p:nvPicPr>
        <p:blipFill>
          <a:blip r:embed="rId1"/>
          <a:srcRect l="0" t="12498" r="0" b="12498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18">
              <a:alpha val="82000"/>
            </a:srgbClr>
          </a:solidFill>
          <a:ln w="12700">
            <a:solidFill>
              <a:srgbClr val="0a101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1325880"/>
            <a:ext cx="62175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Цикли та індекси</a:t>
            </a:r>
            <a:endParaRPr lang="uk-U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Сонячної активності</a:t>
            </a:r>
            <a:endParaRPr lang="uk-U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58440" y="2816280"/>
            <a:ext cx="5394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dce6f2"/>
                </a:solidFill>
                <a:effectLst/>
                <a:uFillTx/>
                <a:latin typeface="Aptos"/>
                <a:ea typeface="Aptos"/>
              </a:rPr>
              <a:t>Сонце як динамічна зоря: прояви активності, циклічність, індекси та вплив на Землю</a:t>
            </a:r>
            <a:endParaRPr lang="uk-UA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658080" y="2651760"/>
            <a:ext cx="2057400" cy="360"/>
          </a:xfrm>
          <a:prstGeom prst="line">
            <a:avLst/>
          </a:prstGeom>
          <a:ln w="29210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Сонце — не стабільна куля світла, а активна магнітна система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432720" y="1073160"/>
            <a:ext cx="3167280" cy="684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1080" y="148320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96800" y="1986120"/>
            <a:ext cx="4891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5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З наукової точки зору Сонце постійно змінюється. На його поверхні й в атмосфері безперервно виникають магнітні структури, спалахи та потоки плазми, які впливають і на космічний простір, і на Землю.</a:t>
            </a:r>
            <a:endParaRPr lang="uk-UA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540000" y="360000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25400" y="3449160"/>
            <a:ext cx="4736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сонячні плями показують зміну магнітної активності</a:t>
            </a:r>
            <a:endParaRPr lang="uk-UA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540000" y="422100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25400" y="4070160"/>
            <a:ext cx="4736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спалахи й викиди плазми запускають космічну погоду</a:t>
            </a:r>
            <a:endParaRPr lang="uk-UA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540000" y="484200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725400" y="4690800"/>
            <a:ext cx="4736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цикли активності можна відстежувати та прогнозувати</a:t>
            </a:r>
            <a:endParaRPr lang="uk-UA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mnt/data/solar_presentation_assets/flare.jpg"/>
          <p:cNvPicPr/>
          <p:nvPr/>
        </p:nvPicPr>
        <p:blipFill>
          <a:blip r:embed="rId1"/>
          <a:srcRect l="0" t="3477" r="0" b="3477"/>
          <a:stretch/>
        </p:blipFill>
        <p:spPr>
          <a:xfrm>
            <a:off x="6400800" y="1143000"/>
            <a:ext cx="5257440" cy="48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Shape 10"/>
          <p:cNvSpPr/>
          <p:nvPr/>
        </p:nvSpPr>
        <p:spPr>
          <a:xfrm>
            <a:off x="6263640" y="1005840"/>
            <a:ext cx="5440320" cy="5166000"/>
          </a:xfrm>
          <a:prstGeom prst="rect">
            <a:avLst/>
          </a:prstGeom>
          <a:noFill/>
          <a:ln w="15240">
            <a:solidFill>
              <a:srgbClr val="f6a62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583680" y="55321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Основні прояви сонячної активності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457200" y="941760"/>
            <a:ext cx="1920240" cy="36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/mnt/data/solar_presentation_assets/sunspots.jpg"/>
          <p:cNvPicPr/>
          <p:nvPr/>
        </p:nvPicPr>
        <p:blipFill>
          <a:blip r:embed="rId1"/>
          <a:srcRect l="9821" t="0" r="9821" b="0"/>
          <a:stretch/>
        </p:blipFill>
        <p:spPr>
          <a:xfrm>
            <a:off x="502920" y="1417320"/>
            <a:ext cx="274284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Shape 3"/>
          <p:cNvSpPr/>
          <p:nvPr/>
        </p:nvSpPr>
        <p:spPr>
          <a:xfrm>
            <a:off x="502920" y="2834640"/>
            <a:ext cx="2742840" cy="502560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12720" y="2917080"/>
            <a:ext cx="2523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Сонячні плями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02920" y="34747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ce6f2"/>
                </a:solidFill>
                <a:effectLst/>
                <a:uFillTx/>
                <a:latin typeface="Aptos"/>
                <a:ea typeface="Aptos"/>
              </a:rPr>
              <a:t>ділянки зі сильним магнітним полем і нижчою температурою</a:t>
            </a:r>
            <a:endParaRPr lang="uk-UA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1" descr="/mnt/data/solar_presentation_assets/prominence.png"/>
          <p:cNvPicPr/>
          <p:nvPr/>
        </p:nvPicPr>
        <p:blipFill>
          <a:blip r:embed="rId2"/>
          <a:srcRect l="9821" t="0" r="9821" b="0"/>
          <a:stretch/>
        </p:blipFill>
        <p:spPr>
          <a:xfrm>
            <a:off x="3401640" y="1417320"/>
            <a:ext cx="274284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Shape 6"/>
          <p:cNvSpPr/>
          <p:nvPr/>
        </p:nvSpPr>
        <p:spPr>
          <a:xfrm>
            <a:off x="3401640" y="2834640"/>
            <a:ext cx="2742840" cy="502560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3511440" y="2917080"/>
            <a:ext cx="2523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Волокна і протуберанці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3401640" y="34747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ce6f2"/>
                </a:solidFill>
                <a:effectLst/>
                <a:uFillTx/>
                <a:latin typeface="Aptos"/>
                <a:ea typeface="Aptos"/>
              </a:rPr>
              <a:t>витягнуті плазмові структури; на краю диска видно як дуги або хмари</a:t>
            </a:r>
            <a:endParaRPr lang="uk-UA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2" descr="/mnt/data/solar_presentation_assets/coronal_hole.jpg"/>
          <p:cNvPicPr/>
          <p:nvPr/>
        </p:nvPicPr>
        <p:blipFill>
          <a:blip r:embed="rId3"/>
          <a:srcRect l="9820" t="0" r="9820" b="0"/>
          <a:stretch/>
        </p:blipFill>
        <p:spPr>
          <a:xfrm>
            <a:off x="6300360" y="1417320"/>
            <a:ext cx="274284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9"/>
          <p:cNvSpPr/>
          <p:nvPr/>
        </p:nvSpPr>
        <p:spPr>
          <a:xfrm>
            <a:off x="6300360" y="2834640"/>
            <a:ext cx="2742840" cy="502560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6409800" y="2917080"/>
            <a:ext cx="2523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Корональні діри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6300360" y="34747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ce6f2"/>
                </a:solidFill>
                <a:effectLst/>
                <a:uFillTx/>
                <a:latin typeface="Aptos"/>
                <a:ea typeface="Aptos"/>
              </a:rPr>
              <a:t>«вікна» в атмосфері Сонця, звідки виходить швидкий сонячний вітер</a:t>
            </a:r>
            <a:endParaRPr lang="uk-UA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3" descr="/mnt/data/solar_presentation_assets/fullsun.jpg"/>
          <p:cNvPicPr/>
          <p:nvPr/>
        </p:nvPicPr>
        <p:blipFill>
          <a:blip r:embed="rId4"/>
          <a:srcRect l="894" t="0" r="894" b="0"/>
          <a:stretch/>
        </p:blipFill>
        <p:spPr>
          <a:xfrm>
            <a:off x="9198720" y="1417320"/>
            <a:ext cx="251424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12"/>
          <p:cNvSpPr/>
          <p:nvPr/>
        </p:nvSpPr>
        <p:spPr>
          <a:xfrm>
            <a:off x="9198720" y="2834640"/>
            <a:ext cx="2514240" cy="502560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9308520" y="2917080"/>
            <a:ext cx="2294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Активні області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9198720" y="347472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ce6f2"/>
                </a:solidFill>
                <a:effectLst/>
                <a:uFillTx/>
                <a:latin typeface="Aptos"/>
                <a:ea typeface="Aptos"/>
              </a:rPr>
              <a:t>зони, де найчастіше зароджуються спалахи та інші збурення</a:t>
            </a:r>
            <a:endParaRPr lang="uk-UA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540000" y="450000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Разом ці явища показують, що Сонце живе в ритмі магнітних перебудов, а не залишається незмінним.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Як відкрили циклічність сонячної активності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457200" y="1080000"/>
            <a:ext cx="3502800" cy="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720000" y="3608640"/>
            <a:ext cx="10515600" cy="360"/>
          </a:xfrm>
          <a:prstGeom prst="line">
            <a:avLst/>
          </a:prstGeom>
          <a:ln w="22860">
            <a:solidFill>
              <a:srgbClr val="6ed0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857160" y="3498840"/>
            <a:ext cx="219240" cy="2192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784080" y="30600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1610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765720" y="38372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Галілей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765720" y="404748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спостерігає сонячні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плями в телескоп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2731680" y="3498840"/>
            <a:ext cx="219240" cy="2192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2658600" y="30600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XVII ст.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2640240" y="38372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Маундерівський мінімум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2640240" y="404748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дуже слабка активність; пізніше підтверджений Джоном Едді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5154840" y="3498840"/>
            <a:ext cx="219240" cy="2192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5081760" y="30600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1843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5063400" y="38372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Генріх Швабе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5063400" y="404748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виявляє періодичну зміну кількості плям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7532280" y="3498840"/>
            <a:ext cx="219240" cy="2192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7459200" y="30600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Р. Вольф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7440840" y="38372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≈11 років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7440840" y="404748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обчислює середню тривалість циклу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9681120" y="3498840"/>
            <a:ext cx="219240" cy="2192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9608040" y="30600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Дж. Гейл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9589680" y="383724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≈22 роки</a:t>
            </a:r>
            <a:endParaRPr lang="uk-UA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9589680" y="4047480"/>
            <a:ext cx="187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4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показує повний магнітний цикл із подвійною зміною полярності</a:t>
            </a:r>
            <a:endParaRPr lang="uk-UA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822960" y="5715000"/>
            <a:ext cx="10560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11-річний цикл і 22-річний магнітний цикл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457200" y="941760"/>
            <a:ext cx="1920240" cy="36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640080" y="1661400"/>
            <a:ext cx="1005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11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років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737360" y="166428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середня тривалість циклу сонячних плям: від мінімуму до максимуму і знову до мінімуму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720000" y="26060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6ed0ff"/>
                </a:solidFill>
                <a:effectLst/>
                <a:uFillTx/>
                <a:latin typeface="Aptos"/>
              </a:rPr>
              <a:t>22 роки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732320" y="2520000"/>
            <a:ext cx="431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повний магнітний цикл: за цей час полярність магнітного поля Сонця змінюється двічі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6536880" y="1980000"/>
          <a:ext cx="4983120" cy="2834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Text 7"/>
          <p:cNvSpPr/>
          <p:nvPr/>
        </p:nvSpPr>
        <p:spPr>
          <a:xfrm>
            <a:off x="6629400" y="440748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7936920" y="129852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8869680" y="440748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 flipV="1">
            <a:off x="9399960" y="1956600"/>
            <a:ext cx="360" cy="2322720"/>
          </a:xfrm>
          <a:prstGeom prst="line">
            <a:avLst/>
          </a:prstGeom>
          <a:ln w="17780">
            <a:solidFill>
              <a:srgbClr val="6ed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658440" y="349308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859680" y="3420000"/>
            <a:ext cx="5147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в максимумі на Сонці більше плям, спалахів і корональних збурень</a:t>
            </a:r>
            <a:endParaRPr lang="uk-UA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658440" y="404604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859680" y="3972960"/>
            <a:ext cx="5147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в мінімумі видима активність слабшає, але не зникає повністю</a:t>
            </a:r>
            <a:endParaRPr lang="uk-UA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658440" y="459900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859680" y="4525920"/>
            <a:ext cx="5147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саме циклічність дає змогу порівнювати різні епохи сонячної активності</a:t>
            </a:r>
            <a:endParaRPr lang="uk-UA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Індекси сонячної активності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457200" y="941760"/>
            <a:ext cx="1920240" cy="36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594360" y="1508760"/>
            <a:ext cx="5257440" cy="4434480"/>
          </a:xfrm>
          <a:prstGeom prst="roundRect">
            <a:avLst>
              <a:gd name="adj" fmla="val 1649"/>
            </a:avLst>
          </a:prstGeom>
          <a:solidFill>
            <a:srgbClr val="0e1b28"/>
          </a:solidFill>
          <a:ln w="13970">
            <a:solidFill>
              <a:srgbClr val="2b42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914400" y="1783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Число Вольфа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914400" y="233172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R = k (10g + s)</a:t>
            </a:r>
            <a:endParaRPr lang="uk-UA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914400" y="303588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g — кількість груп плям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s — кількість окремих плям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k — поправка на умови спостереження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914400" y="4434840"/>
            <a:ext cx="4388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20" b="0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Цей індекс показує, наскільки «заплямованим» є Сонце в певний момент і добре відстежує хід 11-річного циклу.</a:t>
            </a:r>
            <a:endParaRPr lang="uk-UA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6144840" y="1508760"/>
            <a:ext cx="5440320" cy="4434480"/>
          </a:xfrm>
          <a:prstGeom prst="roundRect">
            <a:avLst>
              <a:gd name="adj" fmla="val 1649"/>
            </a:avLst>
          </a:prstGeom>
          <a:solidFill>
            <a:srgbClr val="0e1b28"/>
          </a:solidFill>
          <a:ln w="13970">
            <a:solidFill>
              <a:srgbClr val="2b42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6473880" y="1783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6ed0ff"/>
                </a:solidFill>
                <a:effectLst/>
                <a:uFillTx/>
                <a:latin typeface="Aptos"/>
              </a:rPr>
              <a:t>Індекс F10.7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473880" y="207972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Радіовипромінювання</a:t>
            </a:r>
            <a:endParaRPr lang="uk-UA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на хвилі 10.7 см</a:t>
            </a:r>
            <a:endParaRPr lang="uk-UA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6473880" y="341064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6675120" y="3337560"/>
            <a:ext cx="437040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характеризує інтенсивність радіохвиль, пов’язаних із сонячною активністю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6473880" y="393444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6675120" y="3861360"/>
            <a:ext cx="437040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допомагає оцінювати стан верхньої атмосфери Землі та іоносфери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6473880" y="445824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6675120" y="4385160"/>
            <a:ext cx="437040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зручний для космічної погоди, зв’язку та навігаційних прогнозів</a:t>
            </a:r>
            <a:endParaRPr lang="uk-UA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 0" descr="/mnt/data/solar_presentation_assets/aurora.jpg"/>
          <p:cNvPicPr/>
          <p:nvPr/>
        </p:nvPicPr>
        <p:blipFill>
          <a:blip r:embed="rId1"/>
          <a:srcRect l="2" t="0" r="2" b="0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Як сонячна активність впливає на Землю і людей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457200" y="1080000"/>
            <a:ext cx="6022800" cy="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540000" y="1774080"/>
            <a:ext cx="5668920" cy="4525920"/>
          </a:xfrm>
          <a:prstGeom prst="roundRect">
            <a:avLst>
              <a:gd name="adj" fmla="val 1212"/>
            </a:avLst>
          </a:prstGeom>
          <a:solidFill>
            <a:srgbClr val="08111a">
              <a:alpha val="82000"/>
            </a:srgbClr>
          </a:solidFill>
          <a:ln w="12700">
            <a:solidFill>
              <a:srgbClr val="ffffff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869040" y="286956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070280" y="2796480"/>
            <a:ext cx="487332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7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магнітне поле Землі приймає удар і починає коливатися — це і є магнітна буря</a:t>
            </a:r>
            <a:endParaRPr lang="uk-UA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869040" y="341064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070280" y="3337200"/>
            <a:ext cx="487332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7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під час сильних бур частіше фіксують головний біль, слабкість, безсоння та стрибки тиску</a:t>
            </a:r>
            <a:endParaRPr lang="uk-UA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869040" y="402336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1097280" y="3928320"/>
            <a:ext cx="487332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7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для людей із серцево-судинними хворобами такі дні можуть бути додатковим стресом</a:t>
            </a:r>
            <a:endParaRPr lang="uk-UA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869040" y="460044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070280" y="4527000"/>
            <a:ext cx="487332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7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видимим наслідком взаємодії частинок із магнітосферою стають полярні сяйва</a:t>
            </a:r>
            <a:endParaRPr lang="uk-UA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6812280" y="534924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841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Вплив на технології: від радіозв’язку до супутників</a:t>
            </a:r>
            <a:endParaRPr lang="uk-UA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457200" y="1193760"/>
            <a:ext cx="3682800" cy="360"/>
          </a:xfrm>
          <a:prstGeom prst="line">
            <a:avLst/>
          </a:prstGeom>
          <a:ln w="28575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100584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mnt/data/solar_presentation_assets/satellites_earth.jpg"/>
          <p:cNvPicPr/>
          <p:nvPr/>
        </p:nvPicPr>
        <p:blipFill>
          <a:blip r:embed="rId1"/>
          <a:srcRect l="18420" t="0" r="18420" b="0"/>
          <a:stretch/>
        </p:blipFill>
        <p:spPr>
          <a:xfrm>
            <a:off x="6720840" y="1234440"/>
            <a:ext cx="4937400" cy="521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3"/>
          <p:cNvSpPr/>
          <p:nvPr/>
        </p:nvSpPr>
        <p:spPr>
          <a:xfrm>
            <a:off x="6720840" y="1234440"/>
            <a:ext cx="4937400" cy="5211720"/>
          </a:xfrm>
          <a:prstGeom prst="rect">
            <a:avLst/>
          </a:prstGeom>
          <a:solidFill>
            <a:srgbClr val="000000">
              <a:alpha val="36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687240" y="34362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d26a"/>
                </a:solidFill>
                <a:effectLst/>
                <a:uFillTx/>
                <a:latin typeface="Aptos"/>
              </a:rPr>
              <a:t>Технічні наслідки</a:t>
            </a:r>
            <a:endParaRPr lang="uk-U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687240" y="399384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888480" y="3920760"/>
            <a:ext cx="38674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6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перешкоди для короткохвильового радіозв’язку</a:t>
            </a:r>
            <a:endParaRPr lang="uk-UA" sz="1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687240" y="449352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888480" y="4420440"/>
            <a:ext cx="38674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6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похибки або збої в GPS і супутниковій навігації</a:t>
            </a:r>
            <a:endParaRPr lang="uk-UA" sz="1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687240" y="4993200"/>
            <a:ext cx="109440" cy="109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888480" y="4884120"/>
            <a:ext cx="38674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6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перенапруги в електромережах під час екстремальних бур</a:t>
            </a:r>
            <a:endParaRPr lang="uk-UA" sz="1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687240" y="5492880"/>
            <a:ext cx="109440" cy="10944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888480" y="5383800"/>
            <a:ext cx="38674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60" b="0" u="none" strike="noStrike">
                <a:solidFill>
                  <a:srgbClr val="f7f9fc"/>
                </a:solidFill>
                <a:effectLst/>
                <a:uFillTx/>
                <a:latin typeface="Aptos"/>
                <a:ea typeface="Aptos"/>
              </a:rPr>
              <a:t>нагрів і розширення верхніх шарів атмосфери, що гальмує супутники на орбіті</a:t>
            </a:r>
            <a:endParaRPr lang="uk-UA" sz="1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640080" y="2130480"/>
            <a:ext cx="530316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Чим точніше ми знаємо фазу циклу й поточні індекси активності, тим краще можемо прогнозувати ризики для навігації, енергосистем і космічної техніки.</a:t>
            </a: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 0" descr="/mnt/data/solar_presentation_assets/coronal_hole.jpg"/>
          <p:cNvPicPr/>
          <p:nvPr/>
        </p:nvPicPr>
        <p:blipFill>
          <a:blip r:embed="rId1"/>
          <a:srcRect l="2" t="0" r="2" b="0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44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111a">
              <a:alpha val="68000"/>
            </a:srgbClr>
          </a:solidFill>
          <a:ln w="12700">
            <a:solidFill>
              <a:srgbClr val="0811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640080" y="65844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f7f9fc"/>
                </a:solidFill>
                <a:effectLst/>
                <a:uFillTx/>
                <a:latin typeface="Aptos Display"/>
                <a:ea typeface="Aptos Display"/>
              </a:rPr>
              <a:t>Висновок</a:t>
            </a:r>
            <a:endParaRPr lang="uk-UA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 flipV="1">
            <a:off x="640080" y="1080000"/>
            <a:ext cx="2059920" cy="17280"/>
          </a:xfrm>
          <a:prstGeom prst="line">
            <a:avLst/>
          </a:prstGeom>
          <a:ln w="27940">
            <a:solidFill>
              <a:srgbClr val="f6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720" bIns="-27720" anchor="t" anchorCtr="1">
            <a:noAutofit/>
          </a:bodyPr>
          <a:p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658440" y="1554480"/>
            <a:ext cx="94215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Сонце — це складна змінна система, активність якої має власні ритми. Саме тому вивчення циклів та індексів потрібне не лише для розуміння фізики зорі, а й для прогнозування наслідків для Землі.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685800" y="3246120"/>
            <a:ext cx="383760" cy="38376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813960" y="3310200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71019"/>
                </a:solidFill>
                <a:effectLst/>
                <a:uFillTx/>
                <a:latin typeface="Aptos"/>
              </a:rPr>
              <a:t>1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1207080" y="326448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2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11-річний цикл показує зміну кількості плям і спалахової активності.</a:t>
            </a:r>
            <a:endParaRPr lang="uk-UA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685800" y="4105800"/>
            <a:ext cx="383760" cy="383760"/>
          </a:xfrm>
          <a:prstGeom prst="ellipse">
            <a:avLst/>
          </a:prstGeom>
          <a:solidFill>
            <a:srgbClr val="6ed0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813960" y="4169520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71019"/>
                </a:solidFill>
                <a:effectLst/>
                <a:uFillTx/>
                <a:latin typeface="Aptos"/>
              </a:rPr>
              <a:t>2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1207080" y="412380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2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22-річний цикл описує повну магнітну перебудову Сонця.</a:t>
            </a:r>
            <a:endParaRPr lang="uk-UA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685800" y="4965120"/>
            <a:ext cx="383760" cy="38376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813960" y="5029200"/>
            <a:ext cx="109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71019"/>
                </a:solidFill>
                <a:effectLst/>
                <a:uFillTx/>
                <a:latin typeface="Aptos"/>
              </a:rPr>
              <a:t>3</a:t>
            </a:r>
            <a:endParaRPr lang="uk-UA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1207080" y="498348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20" b="0" u="none" strike="noStrike">
                <a:solidFill>
                  <a:srgbClr val="dce6f2"/>
                </a:solidFill>
                <a:effectLst/>
                <a:uFillTx/>
                <a:latin typeface="Aptos"/>
              </a:rPr>
              <a:t>Число Вольфа й F10.7 дозволяють оцінювати космічну погоду та її ризики для людей і технологій.</a:t>
            </a:r>
            <a:endParaRPr lang="uk-UA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8595360" y="598932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LibreOffice/25.8.5.2$Windows_X86_64 LibreOffice_project/9c8b85f387cc00a89945a79c9e6239f32e450ac2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2026-03-23T18:17:02Z</dcterms:created>
  <dc:creator>OpenAI</dc:creator>
  <dc:description/>
  <dc:language>uk-UA</dc:language>
  <cp:lastModifiedBy/>
  <dcterms:modified xsi:type="dcterms:W3CDTF">2026-03-23T21:24:22Z</dcterms:modified>
  <cp:revision>3</cp:revision>
  <dc:subject>Цикли та індекси сонячної активності</dc:subject>
  <dc:title>Цикли та індекси Сонячної активності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