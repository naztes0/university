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0891B2">
              <a:alpha val="12000"/>
            </a:srgbClr>
          </a:solidFill>
          <a:ln w="635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0"/>
            <a:ext cx="1828800" cy="182880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3152" cy="228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Синтетичні органи та тканини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біоінженерія змінює систему охорони здоров'я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154680"/>
            <a:ext cx="5943600" cy="1097280"/>
          </a:xfrm>
          <a:prstGeom prst="rect">
            <a:avLst/>
          </a:prstGeom>
          <a:solidFill>
            <a:srgbClr val="EEF4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2461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Дефіцит донорських органів та імунне відторгнення — два фундаментальних бар'єри сучасної трансплантології. Нові технології пропонують революційне вирішення цих проблем.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Криза сучасної трансплантології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256032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261872"/>
            <a:ext cx="914400" cy="914400"/>
          </a:xfrm>
          <a:prstGeom prst="ellipse">
            <a:avLst/>
          </a:prstGeom>
          <a:solidFill>
            <a:srgbClr val="CFF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Листи очікування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28346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Пацієнти роками чекають донорський орган. Смертність у цей період надзвичайно висока.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256032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261872"/>
            <a:ext cx="914400" cy="914400"/>
          </a:xfrm>
          <a:prstGeom prst="ellipse">
            <a:avLst/>
          </a:prstGeom>
          <a:solidFill>
            <a:srgbClr val="CFF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Імуносупресія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8346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Навіть після успішної пересадки пацієнт приймає токсичні препарати все життя.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51560"/>
            <a:ext cx="256032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261872"/>
            <a:ext cx="914400" cy="914400"/>
          </a:xfrm>
          <a:prstGeom prst="ellipse">
            <a:avLst/>
          </a:prstGeom>
          <a:solidFill>
            <a:srgbClr val="CFFAFE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26187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44768" y="2331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Дефіцит донорів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44768" y="2834640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Кількість осіб, які потребують трансплантації, значно перевищує наявний донорський матеріал.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 1: 3D-Біодрук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840480" cy="3566160"/>
          </a:xfrm>
          <a:prstGeom prst="rect">
            <a:avLst/>
          </a:prstGeom>
          <a:solidFill>
            <a:srgbClr val="EEF4FF"/>
          </a:solidFill>
          <a:ln w="63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34747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984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Стовбурові клітини пацієнта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783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4747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938528"/>
            <a:ext cx="73152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482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Суміш із гідрогелем (біочорнило)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532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82F6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34747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88336"/>
            <a:ext cx="73152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980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Пошарове друкування тканини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2826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59669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347472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9333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8144"/>
            <a:ext cx="73152" cy="5943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547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Дозрівання у біореакторі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1005840"/>
            <a:ext cx="4297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біодрук?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Просторові принтери оперують «біочорнилами» — суспензіями живих стовбурових клітин пацієнта, змішаних із поживними гідрогелями.
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переваги:
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80560" y="272491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97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Використання власних клітин пацієнта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322783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Відсутність імунного відторгнення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480560" y="373075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 відтворення анатомічної структури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80560" y="4233672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206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Масштабованість та автоматизація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 2: Децелюляризація матриксу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5087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76072" y="1234440"/>
            <a:ext cx="914400" cy="914400"/>
          </a:xfrm>
          <a:prstGeom prst="ellipse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🐷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10896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Донорський орган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(тварина або людина)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01368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5087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13432" y="1234440"/>
            <a:ext cx="914400" cy="914400"/>
          </a:xfrm>
          <a:prstGeom prst="ellipse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343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⚗️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48256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Хімічне очищення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клітин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49040" y="1097280"/>
            <a:ext cx="15087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50792" y="1234440"/>
            <a:ext cx="914400" cy="914400"/>
          </a:xfrm>
          <a:prstGeom prst="ellipse">
            <a:avLst/>
          </a:prstGeom>
          <a:solidFill>
            <a:srgbClr val="9333EA">
              <a:alpha val="15000"/>
            </a:srgbClr>
          </a:solidFill>
          <a:ln w="6350">
            <a:solidFill>
              <a:srgbClr val="9333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85616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Колагеновий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матрикс (каркас)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76088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0" y="1097280"/>
            <a:ext cx="15087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88152" y="1234440"/>
            <a:ext cx="914400" cy="914400"/>
          </a:xfrm>
          <a:prstGeom prst="ellipse">
            <a:avLst/>
          </a:prstGeom>
          <a:solidFill>
            <a:srgbClr val="059669">
              <a:alpha val="1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815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22976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Заселення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клітинами пацієнта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13448" y="19659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23760" y="1097280"/>
            <a:ext cx="1508760" cy="2103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25512" y="1234440"/>
            <a:ext cx="914400" cy="914400"/>
          </a:xfrm>
          <a:prstGeom prst="ellipse">
            <a:avLst/>
          </a:prstGeom>
          <a:solidFill>
            <a:srgbClr val="E11D48">
              <a:alpha val="15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25512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🫀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0336" y="22402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орган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відторгнення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EEF4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54787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Суть методу: </a:t>
            </a:r>
            <a:pPr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 тварини або нежиттєздатний людський орган повністю очищують хімічними розчинами від клітинного матеріалу, залишаючи лише колагеновий позаклітинний матрикс. Цей нейтральний каркас заселяють власними клітинами пацієнта — і виростають новий орган із заданою анатомічною структурою без ризику відторгнення.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Технологія 3: Синтетичні та механічні замінники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26060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1207008"/>
            <a:ext cx="960120" cy="960120"/>
          </a:xfrm>
          <a:prstGeom prst="ellipse">
            <a:avLst/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207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75488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Механічні шлуночки серця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 штучного кровообігу з насосами безперервного потоку. Виготовляються з титанових сплавів та забезпечують повноцінну роботу кровоносної системи.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06040" cy="91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207008"/>
            <a:ext cx="960120" cy="960120"/>
          </a:xfrm>
          <a:prstGeom prst="ellipse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207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0128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Біосумісні полімери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покоління матеріалів, що мінімізують ризик тромбоутворення і відповідають механічним властивостям природних тканин.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005840"/>
            <a:ext cx="2606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005840"/>
            <a:ext cx="260604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207008"/>
            <a:ext cx="960120" cy="960120"/>
          </a:xfrm>
          <a:prstGeom prst="ellipse">
            <a:avLst/>
          </a:prstGeom>
          <a:solidFill>
            <a:srgbClr val="059669">
              <a:alpha val="1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207008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🔩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44768" y="2304288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Титанові імплантати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97180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Ортопедичні та кардіологічні пристрої, оброблені спеціальними покриттями для максимальної біосумісності та довговічності.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змінить систему охорони здоров'я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1005840" cy="114300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📋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1115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Ліквідація листів очікування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Перехід від пошуку до контрольованого виробництва органів. Замовлення замість очікування.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13258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31720"/>
            <a:ext cx="1005840" cy="1143000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377440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💉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08760" y="2441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Скасування імуносупресії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283464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Аутологічні органи не розпізнаються імунною системою як чужорідні. Токсичні препарати більше не потрібні.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6517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57600"/>
            <a:ext cx="1005840" cy="114300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703320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🔬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08760" y="3767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Органи-на-чипі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16052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Мікрофлюїдні пристрої з живими клітинами — революція у фармакології та тестуванні ліків.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39776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технологічний бар'єр: Васкуляризація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D1FAE5">
              <a:alpha val="6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155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Вже в клінічній практиці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36776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Шкіра — трансплантація на опіки та рани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Хрящі — відновлення суглобів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060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Трахея — протезування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90672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Рогівка — відновлення зору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753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Кровоносні судини — прості трубчасті структури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1005840"/>
            <a:ext cx="4297680" cy="3566160"/>
          </a:xfrm>
          <a:prstGeom prst="rect">
            <a:avLst/>
          </a:prstGeom>
          <a:solidFill>
            <a:srgbClr val="FFF1F2">
              <a:alpha val="80000"/>
            </a:srgbClr>
          </a:solidFill>
          <a:ln w="10160">
            <a:solidFill>
              <a:srgbClr val="FDA4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1556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Головний виклик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1600200"/>
            <a:ext cx="3977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Солідні органи потребують мікроскопічну капілярну мережу для постачання кисню до клітин всередині тканини.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2578608"/>
            <a:ext cx="3977640" cy="384048"/>
          </a:xfrm>
          <a:prstGeom prst="rect">
            <a:avLst/>
          </a:prstGeom>
          <a:solidFill>
            <a:srgbClr val="FFE4E6">
              <a:alpha val="70000"/>
            </a:srgbClr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060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🫀 Серце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95160" y="2606040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розробці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054096"/>
            <a:ext cx="3977640" cy="384048"/>
          </a:xfrm>
          <a:prstGeom prst="rect">
            <a:avLst/>
          </a:prstGeom>
          <a:solidFill>
            <a:srgbClr val="FFE4E6">
              <a:alpha val="70000"/>
            </a:srgbClr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815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Легені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95160" y="3081528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розробці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529584"/>
            <a:ext cx="3977640" cy="384048"/>
          </a:xfrm>
          <a:prstGeom prst="rect">
            <a:avLst/>
          </a:prstGeom>
          <a:solidFill>
            <a:srgbClr val="FFE4E6">
              <a:alpha val="70000"/>
            </a:srgbClr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55701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Печінка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95160" y="3557016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розробці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05072"/>
            <a:ext cx="3977640" cy="384048"/>
          </a:xfrm>
          <a:prstGeom prst="rect">
            <a:avLst/>
          </a:prstGeom>
          <a:solidFill>
            <a:srgbClr val="FFE4E6">
              <a:alpha val="70000"/>
            </a:srgbClr>
          </a:solidFill>
          <a:ln w="6350">
            <a:solidFill>
              <a:srgbClr val="FECD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403250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🫘 Нирки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95160" y="4032504"/>
            <a:ext cx="1508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розробці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891B2">
              <a:alpha val="10000"/>
            </a:srgbClr>
          </a:solidFill>
          <a:ln w="635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3B82F6">
              <a:alpha val="10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73152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8404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реактивної до регенеративної медицини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4114800" cy="3154680"/>
          </a:xfrm>
          <a:prstGeom prst="rect">
            <a:avLst/>
          </a:prstGeom>
          <a:solidFill>
            <a:srgbClr val="F1F5F9">
              <a:alpha val="80000"/>
            </a:srgbClr>
          </a:solidFill>
          <a:ln w="1016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Реактивна модель (сьогодні)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042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Боротьба з наслідками відмови органів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25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Пожиттєва підтримуюча терапія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467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 від донорського матеріалу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679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Листи очікування та висока смертність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600200"/>
            <a:ext cx="4114800" cy="3154680"/>
          </a:xfrm>
          <a:prstGeom prst="rect">
            <a:avLst/>
          </a:prstGeom>
          <a:solidFill>
            <a:srgbClr val="CFFAFE">
              <a:alpha val="80000"/>
            </a:srgbClr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Регенеративна модель (майбутнє)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83480" y="233172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3042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Планова безпечна заміна органів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85292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82549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Аутологічні органи без відторгнення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337413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334670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Виробництво органів на замовлення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89534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38679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Прискорена розробка ліків (Organ-on-chip)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15968" y="292608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</a:rPr>
              <a:t>→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Синтетичні органи та тканини</dc:title>
  <dc:subject>PptxGenJS Presentation</dc:subject>
  <dc:creator>PptxGenJS</dc:creator>
  <cp:lastModifiedBy>PptxGenJS</cp:lastModifiedBy>
  <cp:revision>1</cp:revision>
  <dcterms:created xsi:type="dcterms:W3CDTF">2026-05-19T09:38:52Z</dcterms:created>
  <dcterms:modified xsi:type="dcterms:W3CDTF">2026-05-19T09:38:52Z</dcterms:modified>
</cp:coreProperties>
</file>